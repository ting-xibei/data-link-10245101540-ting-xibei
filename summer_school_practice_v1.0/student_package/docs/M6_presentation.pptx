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9" r:id="rId2"/>
    <p:sldId id="292" r:id="rId3"/>
    <p:sldId id="280" r:id="rId4"/>
    <p:sldId id="293" r:id="rId5"/>
    <p:sldId id="296" r:id="rId6"/>
    <p:sldId id="297" r:id="rId7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419C"/>
    <a:srgbClr val="4472C4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04" autoAdjust="0"/>
    <p:restoredTop sz="94279" autoAdjust="0"/>
  </p:normalViewPr>
  <p:slideViewPr>
    <p:cSldViewPr showGuides="1">
      <p:cViewPr varScale="1">
        <p:scale>
          <a:sx n="97" d="100"/>
          <a:sy n="97" d="100"/>
        </p:scale>
        <p:origin x="84" y="48"/>
      </p:cViewPr>
      <p:guideLst>
        <p:guide orient="horz" pos="217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F5FCC-2B4E-4E63-AE43-A06AC1BB4691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A7C2C5-6CB9-4494-AA33-6FA6503D8A68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 userDrawn="1"/>
        </p:nvSpPr>
        <p:spPr>
          <a:xfrm>
            <a:off x="0" y="6732766"/>
            <a:ext cx="407368" cy="107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" dirty="0">
                <a:solidFill>
                  <a:schemeClr val="bg1"/>
                </a:solidFill>
              </a:rPr>
              <a:t>木卫林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502D5C-AA8C-4595-A33F-B9794B6268AF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3ABFDCD-7E08-4B74-9118-24CFF7CC037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/>
        </p:nvGrpSpPr>
        <p:grpSpPr>
          <a:xfrm>
            <a:off x="3417384" y="1981344"/>
            <a:ext cx="8007208" cy="4876656"/>
            <a:chOff x="699206" y="1626982"/>
            <a:chExt cx="5459904" cy="4366827"/>
          </a:xfrm>
        </p:grpSpPr>
        <p:sp>
          <p:nvSpPr>
            <p:cNvPr id="48" name="文本框 47"/>
            <p:cNvSpPr txBox="1"/>
            <p:nvPr/>
          </p:nvSpPr>
          <p:spPr>
            <a:xfrm>
              <a:off x="980119" y="2267746"/>
              <a:ext cx="5178991" cy="7517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4800" spc="600" dirty="0">
                  <a:solidFill>
                    <a:schemeClr val="bg1"/>
                  </a:solidFill>
                  <a:cs typeface="+mn-ea"/>
                  <a:sym typeface="+mn-lt"/>
                </a:rPr>
                <a:t>毕业论文答辩模板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80119" y="3195224"/>
              <a:ext cx="5089078" cy="278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spc="600" dirty="0">
                  <a:solidFill>
                    <a:schemeClr val="bg1"/>
                  </a:solidFill>
                  <a:cs typeface="+mn-ea"/>
                  <a:sym typeface="+mn-lt"/>
                </a:rPr>
                <a:t>Graduation thesis defense template</a:t>
              </a:r>
              <a:endParaRPr lang="zh-CN" altLang="en-US" sz="1400" spc="6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50" name="矩形: 圆角 49"/>
            <p:cNvSpPr/>
            <p:nvPr/>
          </p:nvSpPr>
          <p:spPr>
            <a:xfrm>
              <a:off x="699206" y="1626982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accent1"/>
            </a:solidFill>
            <a:ln>
              <a:noFill/>
            </a:ln>
            <a:effectLst>
              <a:outerShdw blurRad="304800" dist="127000" dir="2700000" algn="tl" rotWithShape="0">
                <a:schemeClr val="accent1">
                  <a:lumMod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51" name="矩形: 圆角 50"/>
            <p:cNvSpPr/>
            <p:nvPr/>
          </p:nvSpPr>
          <p:spPr>
            <a:xfrm>
              <a:off x="699206" y="1756133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1087448" y="3163082"/>
              <a:ext cx="1040928" cy="255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11021521" y="5805441"/>
            <a:ext cx="1013175" cy="837275"/>
            <a:chOff x="9057311" y="4165781"/>
            <a:chExt cx="2073210" cy="1713274"/>
          </a:xfrm>
        </p:grpSpPr>
        <p:sp>
          <p:nvSpPr>
            <p:cNvPr id="14" name="任意多边形: 形状 13"/>
            <p:cNvSpPr/>
            <p:nvPr/>
          </p:nvSpPr>
          <p:spPr>
            <a:xfrm>
              <a:off x="9621603" y="4728092"/>
              <a:ext cx="466603" cy="473274"/>
            </a:xfrm>
            <a:custGeom>
              <a:avLst/>
              <a:gdLst>
                <a:gd name="connsiteX0" fmla="*/ 284131 w 284130"/>
                <a:gd name="connsiteY0" fmla="*/ 95726 h 284035"/>
                <a:gd name="connsiteX1" fmla="*/ 188404 w 284130"/>
                <a:gd name="connsiteY1" fmla="*/ 95726 h 284035"/>
                <a:gd name="connsiteX2" fmla="*/ 188404 w 284130"/>
                <a:gd name="connsiteY2" fmla="*/ 0 h 284035"/>
                <a:gd name="connsiteX3" fmla="*/ 95726 w 284130"/>
                <a:gd name="connsiteY3" fmla="*/ 0 h 284035"/>
                <a:gd name="connsiteX4" fmla="*/ 95726 w 284130"/>
                <a:gd name="connsiteY4" fmla="*/ 95726 h 284035"/>
                <a:gd name="connsiteX5" fmla="*/ 0 w 284130"/>
                <a:gd name="connsiteY5" fmla="*/ 95726 h 284035"/>
                <a:gd name="connsiteX6" fmla="*/ 0 w 284130"/>
                <a:gd name="connsiteY6" fmla="*/ 188309 h 284035"/>
                <a:gd name="connsiteX7" fmla="*/ 95726 w 284130"/>
                <a:gd name="connsiteY7" fmla="*/ 188309 h 284035"/>
                <a:gd name="connsiteX8" fmla="*/ 95726 w 284130"/>
                <a:gd name="connsiteY8" fmla="*/ 284036 h 284035"/>
                <a:gd name="connsiteX9" fmla="*/ 188404 w 284130"/>
                <a:gd name="connsiteY9" fmla="*/ 284036 h 284035"/>
                <a:gd name="connsiteX10" fmla="*/ 188404 w 284130"/>
                <a:gd name="connsiteY10" fmla="*/ 188309 h 284035"/>
                <a:gd name="connsiteX11" fmla="*/ 284131 w 284130"/>
                <a:gd name="connsiteY11" fmla="*/ 188309 h 284035"/>
                <a:gd name="connsiteX12" fmla="*/ 284131 w 284130"/>
                <a:gd name="connsiteY12" fmla="*/ 95726 h 284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4130" h="284035">
                  <a:moveTo>
                    <a:pt x="284131" y="95726"/>
                  </a:moveTo>
                  <a:lnTo>
                    <a:pt x="188404" y="95726"/>
                  </a:lnTo>
                  <a:lnTo>
                    <a:pt x="188404" y="0"/>
                  </a:lnTo>
                  <a:lnTo>
                    <a:pt x="95726" y="0"/>
                  </a:lnTo>
                  <a:lnTo>
                    <a:pt x="95726" y="95726"/>
                  </a:lnTo>
                  <a:lnTo>
                    <a:pt x="0" y="95726"/>
                  </a:lnTo>
                  <a:lnTo>
                    <a:pt x="0" y="188309"/>
                  </a:lnTo>
                  <a:lnTo>
                    <a:pt x="95726" y="188309"/>
                  </a:lnTo>
                  <a:lnTo>
                    <a:pt x="95726" y="284036"/>
                  </a:lnTo>
                  <a:lnTo>
                    <a:pt x="188404" y="284036"/>
                  </a:lnTo>
                  <a:lnTo>
                    <a:pt x="188404" y="188309"/>
                  </a:lnTo>
                  <a:lnTo>
                    <a:pt x="284131" y="188309"/>
                  </a:lnTo>
                  <a:lnTo>
                    <a:pt x="284131" y="95726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5" name="任意多边形: 形状 14"/>
            <p:cNvSpPr/>
            <p:nvPr/>
          </p:nvSpPr>
          <p:spPr>
            <a:xfrm>
              <a:off x="9057311" y="5389435"/>
              <a:ext cx="446113" cy="452642"/>
            </a:xfrm>
            <a:custGeom>
              <a:avLst/>
              <a:gdLst>
                <a:gd name="connsiteX0" fmla="*/ 172323 w 271653"/>
                <a:gd name="connsiteY0" fmla="*/ 7811 h 271653"/>
                <a:gd name="connsiteX1" fmla="*/ 172323 w 271653"/>
                <a:gd name="connsiteY1" fmla="*/ 99346 h 271653"/>
                <a:gd name="connsiteX2" fmla="*/ 263859 w 271653"/>
                <a:gd name="connsiteY2" fmla="*/ 99346 h 271653"/>
                <a:gd name="connsiteX3" fmla="*/ 263859 w 271653"/>
                <a:gd name="connsiteY3" fmla="*/ 172307 h 271653"/>
                <a:gd name="connsiteX4" fmla="*/ 172323 w 271653"/>
                <a:gd name="connsiteY4" fmla="*/ 172307 h 271653"/>
                <a:gd name="connsiteX5" fmla="*/ 172323 w 271653"/>
                <a:gd name="connsiteY5" fmla="*/ 263842 h 271653"/>
                <a:gd name="connsiteX6" fmla="*/ 99362 w 271653"/>
                <a:gd name="connsiteY6" fmla="*/ 263842 h 271653"/>
                <a:gd name="connsiteX7" fmla="*/ 99362 w 271653"/>
                <a:gd name="connsiteY7" fmla="*/ 172307 h 271653"/>
                <a:gd name="connsiteX8" fmla="*/ 7827 w 271653"/>
                <a:gd name="connsiteY8" fmla="*/ 172307 h 271653"/>
                <a:gd name="connsiteX9" fmla="*/ 7827 w 271653"/>
                <a:gd name="connsiteY9" fmla="*/ 99346 h 271653"/>
                <a:gd name="connsiteX10" fmla="*/ 99362 w 271653"/>
                <a:gd name="connsiteY10" fmla="*/ 99346 h 271653"/>
                <a:gd name="connsiteX11" fmla="*/ 99362 w 271653"/>
                <a:gd name="connsiteY11" fmla="*/ 7811 h 271653"/>
                <a:gd name="connsiteX12" fmla="*/ 172323 w 271653"/>
                <a:gd name="connsiteY12" fmla="*/ 7811 h 271653"/>
                <a:gd name="connsiteX13" fmla="*/ 180134 w 271653"/>
                <a:gd name="connsiteY13" fmla="*/ 0 h 271653"/>
                <a:gd name="connsiteX14" fmla="*/ 91551 w 271653"/>
                <a:gd name="connsiteY14" fmla="*/ 0 h 271653"/>
                <a:gd name="connsiteX15" fmla="*/ 91551 w 271653"/>
                <a:gd name="connsiteY15" fmla="*/ 91535 h 271653"/>
                <a:gd name="connsiteX16" fmla="*/ 16 w 271653"/>
                <a:gd name="connsiteY16" fmla="*/ 91535 h 271653"/>
                <a:gd name="connsiteX17" fmla="*/ 16 w 271653"/>
                <a:gd name="connsiteY17" fmla="*/ 180118 h 271653"/>
                <a:gd name="connsiteX18" fmla="*/ 91551 w 271653"/>
                <a:gd name="connsiteY18" fmla="*/ 180118 h 271653"/>
                <a:gd name="connsiteX19" fmla="*/ 91551 w 271653"/>
                <a:gd name="connsiteY19" fmla="*/ 271653 h 271653"/>
                <a:gd name="connsiteX20" fmla="*/ 180134 w 271653"/>
                <a:gd name="connsiteY20" fmla="*/ 271653 h 271653"/>
                <a:gd name="connsiteX21" fmla="*/ 180134 w 271653"/>
                <a:gd name="connsiteY21" fmla="*/ 180118 h 271653"/>
                <a:gd name="connsiteX22" fmla="*/ 271669 w 271653"/>
                <a:gd name="connsiteY22" fmla="*/ 180118 h 271653"/>
                <a:gd name="connsiteX23" fmla="*/ 271669 w 271653"/>
                <a:gd name="connsiteY23" fmla="*/ 91535 h 271653"/>
                <a:gd name="connsiteX24" fmla="*/ 180134 w 271653"/>
                <a:gd name="connsiteY24" fmla="*/ 91535 h 271653"/>
                <a:gd name="connsiteX25" fmla="*/ 180134 w 271653"/>
                <a:gd name="connsiteY25" fmla="*/ 0 h 271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71653" h="271653">
                  <a:moveTo>
                    <a:pt x="172323" y="7811"/>
                  </a:moveTo>
                  <a:lnTo>
                    <a:pt x="172323" y="99346"/>
                  </a:lnTo>
                  <a:lnTo>
                    <a:pt x="263859" y="99346"/>
                  </a:lnTo>
                  <a:lnTo>
                    <a:pt x="263859" y="172307"/>
                  </a:lnTo>
                  <a:lnTo>
                    <a:pt x="172323" y="172307"/>
                  </a:lnTo>
                  <a:lnTo>
                    <a:pt x="172323" y="263842"/>
                  </a:lnTo>
                  <a:lnTo>
                    <a:pt x="99362" y="263842"/>
                  </a:lnTo>
                  <a:lnTo>
                    <a:pt x="99362" y="172307"/>
                  </a:lnTo>
                  <a:lnTo>
                    <a:pt x="7827" y="172307"/>
                  </a:lnTo>
                  <a:lnTo>
                    <a:pt x="7827" y="99346"/>
                  </a:lnTo>
                  <a:lnTo>
                    <a:pt x="99362" y="99346"/>
                  </a:lnTo>
                  <a:lnTo>
                    <a:pt x="99362" y="7811"/>
                  </a:lnTo>
                  <a:lnTo>
                    <a:pt x="172323" y="7811"/>
                  </a:lnTo>
                  <a:moveTo>
                    <a:pt x="180134" y="0"/>
                  </a:moveTo>
                  <a:lnTo>
                    <a:pt x="91551" y="0"/>
                  </a:lnTo>
                  <a:lnTo>
                    <a:pt x="91551" y="91535"/>
                  </a:lnTo>
                  <a:lnTo>
                    <a:pt x="16" y="91535"/>
                  </a:lnTo>
                  <a:lnTo>
                    <a:pt x="16" y="180118"/>
                  </a:lnTo>
                  <a:lnTo>
                    <a:pt x="91551" y="180118"/>
                  </a:lnTo>
                  <a:lnTo>
                    <a:pt x="91551" y="271653"/>
                  </a:lnTo>
                  <a:lnTo>
                    <a:pt x="180134" y="271653"/>
                  </a:lnTo>
                  <a:lnTo>
                    <a:pt x="180134" y="180118"/>
                  </a:lnTo>
                  <a:lnTo>
                    <a:pt x="271669" y="180118"/>
                  </a:lnTo>
                  <a:lnTo>
                    <a:pt x="271669" y="91535"/>
                  </a:lnTo>
                  <a:lnTo>
                    <a:pt x="180134" y="91535"/>
                  </a:lnTo>
                  <a:lnTo>
                    <a:pt x="180134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6" name="任意多边形: 形状 15"/>
            <p:cNvSpPr/>
            <p:nvPr/>
          </p:nvSpPr>
          <p:spPr>
            <a:xfrm>
              <a:off x="10165404" y="4899813"/>
              <a:ext cx="965117" cy="979242"/>
            </a:xfrm>
            <a:custGeom>
              <a:avLst/>
              <a:gdLst>
                <a:gd name="connsiteX0" fmla="*/ 372825 w 587692"/>
                <a:gd name="connsiteY0" fmla="*/ 16954 h 587692"/>
                <a:gd name="connsiteX1" fmla="*/ 372825 w 587692"/>
                <a:gd name="connsiteY1" fmla="*/ 214979 h 587692"/>
                <a:gd name="connsiteX2" fmla="*/ 570849 w 587692"/>
                <a:gd name="connsiteY2" fmla="*/ 214979 h 587692"/>
                <a:gd name="connsiteX3" fmla="*/ 570849 w 587692"/>
                <a:gd name="connsiteY3" fmla="*/ 372808 h 587692"/>
                <a:gd name="connsiteX4" fmla="*/ 372825 w 587692"/>
                <a:gd name="connsiteY4" fmla="*/ 372808 h 587692"/>
                <a:gd name="connsiteX5" fmla="*/ 372825 w 587692"/>
                <a:gd name="connsiteY5" fmla="*/ 570833 h 587692"/>
                <a:gd name="connsiteX6" fmla="*/ 214995 w 587692"/>
                <a:gd name="connsiteY6" fmla="*/ 570833 h 587692"/>
                <a:gd name="connsiteX7" fmla="*/ 214995 w 587692"/>
                <a:gd name="connsiteY7" fmla="*/ 372808 h 587692"/>
                <a:gd name="connsiteX8" fmla="*/ 16971 w 587692"/>
                <a:gd name="connsiteY8" fmla="*/ 372808 h 587692"/>
                <a:gd name="connsiteX9" fmla="*/ 16971 w 587692"/>
                <a:gd name="connsiteY9" fmla="*/ 214979 h 587692"/>
                <a:gd name="connsiteX10" fmla="*/ 214995 w 587692"/>
                <a:gd name="connsiteY10" fmla="*/ 214979 h 587692"/>
                <a:gd name="connsiteX11" fmla="*/ 214995 w 587692"/>
                <a:gd name="connsiteY11" fmla="*/ 16954 h 587692"/>
                <a:gd name="connsiteX12" fmla="*/ 372825 w 587692"/>
                <a:gd name="connsiteY12" fmla="*/ 16954 h 587692"/>
                <a:gd name="connsiteX13" fmla="*/ 389684 w 587692"/>
                <a:gd name="connsiteY13" fmla="*/ 0 h 587692"/>
                <a:gd name="connsiteX14" fmla="*/ 198041 w 587692"/>
                <a:gd name="connsiteY14" fmla="*/ 0 h 587692"/>
                <a:gd name="connsiteX15" fmla="*/ 198041 w 587692"/>
                <a:gd name="connsiteY15" fmla="*/ 198025 h 587692"/>
                <a:gd name="connsiteX16" fmla="*/ 16 w 587692"/>
                <a:gd name="connsiteY16" fmla="*/ 198025 h 587692"/>
                <a:gd name="connsiteX17" fmla="*/ 16 w 587692"/>
                <a:gd name="connsiteY17" fmla="*/ 389668 h 587692"/>
                <a:gd name="connsiteX18" fmla="*/ 198041 w 587692"/>
                <a:gd name="connsiteY18" fmla="*/ 389668 h 587692"/>
                <a:gd name="connsiteX19" fmla="*/ 198041 w 587692"/>
                <a:gd name="connsiteY19" fmla="*/ 587693 h 587692"/>
                <a:gd name="connsiteX20" fmla="*/ 389684 w 587692"/>
                <a:gd name="connsiteY20" fmla="*/ 587693 h 587692"/>
                <a:gd name="connsiteX21" fmla="*/ 389684 w 587692"/>
                <a:gd name="connsiteY21" fmla="*/ 389668 h 587692"/>
                <a:gd name="connsiteX22" fmla="*/ 587709 w 587692"/>
                <a:gd name="connsiteY22" fmla="*/ 389668 h 587692"/>
                <a:gd name="connsiteX23" fmla="*/ 587709 w 587692"/>
                <a:gd name="connsiteY23" fmla="*/ 198025 h 587692"/>
                <a:gd name="connsiteX24" fmla="*/ 389684 w 587692"/>
                <a:gd name="connsiteY24" fmla="*/ 198025 h 587692"/>
                <a:gd name="connsiteX25" fmla="*/ 389684 w 587692"/>
                <a:gd name="connsiteY25" fmla="*/ 0 h 587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87692" h="587692">
                  <a:moveTo>
                    <a:pt x="372825" y="16954"/>
                  </a:moveTo>
                  <a:lnTo>
                    <a:pt x="372825" y="214979"/>
                  </a:lnTo>
                  <a:lnTo>
                    <a:pt x="570849" y="214979"/>
                  </a:lnTo>
                  <a:lnTo>
                    <a:pt x="570849" y="372808"/>
                  </a:lnTo>
                  <a:lnTo>
                    <a:pt x="372825" y="372808"/>
                  </a:lnTo>
                  <a:lnTo>
                    <a:pt x="372825" y="570833"/>
                  </a:lnTo>
                  <a:lnTo>
                    <a:pt x="214995" y="570833"/>
                  </a:lnTo>
                  <a:lnTo>
                    <a:pt x="214995" y="372808"/>
                  </a:lnTo>
                  <a:lnTo>
                    <a:pt x="16971" y="372808"/>
                  </a:lnTo>
                  <a:lnTo>
                    <a:pt x="16971" y="214979"/>
                  </a:lnTo>
                  <a:lnTo>
                    <a:pt x="214995" y="214979"/>
                  </a:lnTo>
                  <a:lnTo>
                    <a:pt x="214995" y="16954"/>
                  </a:lnTo>
                  <a:lnTo>
                    <a:pt x="372825" y="16954"/>
                  </a:lnTo>
                  <a:moveTo>
                    <a:pt x="389684" y="0"/>
                  </a:moveTo>
                  <a:lnTo>
                    <a:pt x="198041" y="0"/>
                  </a:lnTo>
                  <a:lnTo>
                    <a:pt x="198041" y="198025"/>
                  </a:lnTo>
                  <a:lnTo>
                    <a:pt x="16" y="198025"/>
                  </a:lnTo>
                  <a:lnTo>
                    <a:pt x="16" y="389668"/>
                  </a:lnTo>
                  <a:lnTo>
                    <a:pt x="198041" y="389668"/>
                  </a:lnTo>
                  <a:lnTo>
                    <a:pt x="198041" y="587693"/>
                  </a:lnTo>
                  <a:lnTo>
                    <a:pt x="389684" y="587693"/>
                  </a:lnTo>
                  <a:lnTo>
                    <a:pt x="389684" y="389668"/>
                  </a:lnTo>
                  <a:lnTo>
                    <a:pt x="587709" y="389668"/>
                  </a:lnTo>
                  <a:lnTo>
                    <a:pt x="587709" y="198025"/>
                  </a:lnTo>
                  <a:lnTo>
                    <a:pt x="389684" y="198025"/>
                  </a:lnTo>
                  <a:lnTo>
                    <a:pt x="389684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7" name="任意多边形: 形状 16"/>
            <p:cNvSpPr/>
            <p:nvPr/>
          </p:nvSpPr>
          <p:spPr>
            <a:xfrm>
              <a:off x="10167513" y="4165781"/>
              <a:ext cx="503206" cy="511046"/>
            </a:xfrm>
            <a:custGeom>
              <a:avLst/>
              <a:gdLst>
                <a:gd name="connsiteX0" fmla="*/ 194326 w 306419"/>
                <a:gd name="connsiteY0" fmla="*/ 8858 h 306704"/>
                <a:gd name="connsiteX1" fmla="*/ 194326 w 306419"/>
                <a:gd name="connsiteY1" fmla="*/ 112109 h 306704"/>
                <a:gd name="connsiteX2" fmla="*/ 297577 w 306419"/>
                <a:gd name="connsiteY2" fmla="*/ 112109 h 306704"/>
                <a:gd name="connsiteX3" fmla="*/ 297577 w 306419"/>
                <a:gd name="connsiteY3" fmla="*/ 194405 h 306704"/>
                <a:gd name="connsiteX4" fmla="*/ 194326 w 306419"/>
                <a:gd name="connsiteY4" fmla="*/ 194405 h 306704"/>
                <a:gd name="connsiteX5" fmla="*/ 194326 w 306419"/>
                <a:gd name="connsiteY5" fmla="*/ 297656 h 306704"/>
                <a:gd name="connsiteX6" fmla="*/ 112125 w 306419"/>
                <a:gd name="connsiteY6" fmla="*/ 297656 h 306704"/>
                <a:gd name="connsiteX7" fmla="*/ 112125 w 306419"/>
                <a:gd name="connsiteY7" fmla="*/ 194405 h 306704"/>
                <a:gd name="connsiteX8" fmla="*/ 8874 w 306419"/>
                <a:gd name="connsiteY8" fmla="*/ 194405 h 306704"/>
                <a:gd name="connsiteX9" fmla="*/ 8874 w 306419"/>
                <a:gd name="connsiteY9" fmla="*/ 112109 h 306704"/>
                <a:gd name="connsiteX10" fmla="*/ 112125 w 306419"/>
                <a:gd name="connsiteY10" fmla="*/ 112109 h 306704"/>
                <a:gd name="connsiteX11" fmla="*/ 112125 w 306419"/>
                <a:gd name="connsiteY11" fmla="*/ 8858 h 306704"/>
                <a:gd name="connsiteX12" fmla="*/ 194326 w 306419"/>
                <a:gd name="connsiteY12" fmla="*/ 8858 h 306704"/>
                <a:gd name="connsiteX13" fmla="*/ 203184 w 306419"/>
                <a:gd name="connsiteY13" fmla="*/ 0 h 306704"/>
                <a:gd name="connsiteX14" fmla="*/ 103267 w 306419"/>
                <a:gd name="connsiteY14" fmla="*/ 0 h 306704"/>
                <a:gd name="connsiteX15" fmla="*/ 103267 w 306419"/>
                <a:gd name="connsiteY15" fmla="*/ 103251 h 306704"/>
                <a:gd name="connsiteX16" fmla="*/ 16 w 306419"/>
                <a:gd name="connsiteY16" fmla="*/ 103251 h 306704"/>
                <a:gd name="connsiteX17" fmla="*/ 16 w 306419"/>
                <a:gd name="connsiteY17" fmla="*/ 203454 h 306704"/>
                <a:gd name="connsiteX18" fmla="*/ 103267 w 306419"/>
                <a:gd name="connsiteY18" fmla="*/ 203454 h 306704"/>
                <a:gd name="connsiteX19" fmla="*/ 103267 w 306419"/>
                <a:gd name="connsiteY19" fmla="*/ 306705 h 306704"/>
                <a:gd name="connsiteX20" fmla="*/ 203184 w 306419"/>
                <a:gd name="connsiteY20" fmla="*/ 306705 h 306704"/>
                <a:gd name="connsiteX21" fmla="*/ 203184 w 306419"/>
                <a:gd name="connsiteY21" fmla="*/ 203454 h 306704"/>
                <a:gd name="connsiteX22" fmla="*/ 306435 w 306419"/>
                <a:gd name="connsiteY22" fmla="*/ 203454 h 306704"/>
                <a:gd name="connsiteX23" fmla="*/ 306435 w 306419"/>
                <a:gd name="connsiteY23" fmla="*/ 103251 h 306704"/>
                <a:gd name="connsiteX24" fmla="*/ 203184 w 306419"/>
                <a:gd name="connsiteY24" fmla="*/ 103251 h 306704"/>
                <a:gd name="connsiteX25" fmla="*/ 203184 w 306419"/>
                <a:gd name="connsiteY25" fmla="*/ 0 h 306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06419" h="306704">
                  <a:moveTo>
                    <a:pt x="194326" y="8858"/>
                  </a:moveTo>
                  <a:lnTo>
                    <a:pt x="194326" y="112109"/>
                  </a:lnTo>
                  <a:lnTo>
                    <a:pt x="297577" y="112109"/>
                  </a:lnTo>
                  <a:lnTo>
                    <a:pt x="297577" y="194405"/>
                  </a:lnTo>
                  <a:lnTo>
                    <a:pt x="194326" y="194405"/>
                  </a:lnTo>
                  <a:lnTo>
                    <a:pt x="194326" y="297656"/>
                  </a:lnTo>
                  <a:lnTo>
                    <a:pt x="112125" y="297656"/>
                  </a:lnTo>
                  <a:lnTo>
                    <a:pt x="112125" y="194405"/>
                  </a:lnTo>
                  <a:lnTo>
                    <a:pt x="8874" y="194405"/>
                  </a:lnTo>
                  <a:lnTo>
                    <a:pt x="8874" y="112109"/>
                  </a:lnTo>
                  <a:lnTo>
                    <a:pt x="112125" y="112109"/>
                  </a:lnTo>
                  <a:lnTo>
                    <a:pt x="112125" y="8858"/>
                  </a:lnTo>
                  <a:lnTo>
                    <a:pt x="194326" y="8858"/>
                  </a:lnTo>
                  <a:moveTo>
                    <a:pt x="203184" y="0"/>
                  </a:moveTo>
                  <a:lnTo>
                    <a:pt x="103267" y="0"/>
                  </a:lnTo>
                  <a:lnTo>
                    <a:pt x="103267" y="103251"/>
                  </a:lnTo>
                  <a:lnTo>
                    <a:pt x="16" y="103251"/>
                  </a:lnTo>
                  <a:lnTo>
                    <a:pt x="16" y="203454"/>
                  </a:lnTo>
                  <a:lnTo>
                    <a:pt x="103267" y="203454"/>
                  </a:lnTo>
                  <a:lnTo>
                    <a:pt x="103267" y="306705"/>
                  </a:lnTo>
                  <a:lnTo>
                    <a:pt x="203184" y="306705"/>
                  </a:lnTo>
                  <a:lnTo>
                    <a:pt x="203184" y="203454"/>
                  </a:lnTo>
                  <a:lnTo>
                    <a:pt x="306435" y="203454"/>
                  </a:lnTo>
                  <a:lnTo>
                    <a:pt x="306435" y="103251"/>
                  </a:lnTo>
                  <a:lnTo>
                    <a:pt x="203184" y="103251"/>
                  </a:lnTo>
                  <a:lnTo>
                    <a:pt x="203184" y="0"/>
                  </a:lnTo>
                  <a:close/>
                </a:path>
              </a:pathLst>
            </a:custGeom>
            <a:gradFill>
              <a:gsLst>
                <a:gs pos="100000">
                  <a:schemeClr val="accent1">
                    <a:alpha val="49000"/>
                  </a:schemeClr>
                </a:gs>
                <a:gs pos="15000">
                  <a:schemeClr val="accent1">
                    <a:alpha val="0"/>
                  </a:schemeClr>
                </a:gs>
              </a:gsLst>
              <a:lin ang="0" scaled="0"/>
            </a:gra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7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  <p:sp>
        <p:nvSpPr>
          <p:cNvPr id="75" name="文本框 74"/>
          <p:cNvSpPr txBox="1"/>
          <p:nvPr/>
        </p:nvSpPr>
        <p:spPr>
          <a:xfrm>
            <a:off x="6561768" y="1496397"/>
            <a:ext cx="48628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R="0" lvl="0" indent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24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B"/>
                <a:ea typeface="阿里巴巴普惠体 B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ea"/>
                <a:sym typeface="+mn-lt"/>
              </a:rPr>
              <a:t>标题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2861" y="735369"/>
            <a:ext cx="11249466" cy="398888"/>
            <a:chOff x="934400" y="936575"/>
            <a:chExt cx="11249466" cy="398888"/>
          </a:xfrm>
        </p:grpSpPr>
        <p:sp>
          <p:nvSpPr>
            <p:cNvPr id="24" name="文本框 47"/>
            <p:cNvSpPr txBox="1"/>
            <p:nvPr/>
          </p:nvSpPr>
          <p:spPr>
            <a:xfrm>
              <a:off x="1065521" y="936575"/>
              <a:ext cx="11118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atinLnBrk="1"/>
              <a:r>
                <a:rPr lang="zh-CN" altLang="zh-CN" dirty="0"/>
                <a:t>OpenSky 状态快照</a:t>
              </a:r>
              <a:r>
                <a:rPr lang="en-US" altLang="zh-CN" dirty="0">
                  <a:sym typeface="Wingdings" panose="05000000000000000000" pitchFamily="2" charset="2"/>
                </a:rPr>
                <a:t></a:t>
              </a:r>
              <a:r>
                <a:rPr lang="zh-CN" altLang="zh-CN" dirty="0"/>
                <a:t>可用态势数据（M</a:t>
              </a:r>
              <a:r>
                <a:rPr lang="en-US" altLang="zh-CN" dirty="0"/>
                <a:t>1</a:t>
              </a:r>
              <a:r>
                <a:rPr lang="zh-CN" altLang="zh-CN" dirty="0"/>
                <a:t>）</a:t>
              </a:r>
            </a:p>
          </p:txBody>
        </p:sp>
        <p:sp>
          <p:nvSpPr>
            <p:cNvPr id="25" name="矩形 24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</p:grpSp>
      <p:sp>
        <p:nvSpPr>
          <p:cNvPr id="27" name="文本框 26"/>
          <p:cNvSpPr txBox="1"/>
          <p:nvPr/>
        </p:nvSpPr>
        <p:spPr>
          <a:xfrm>
            <a:off x="-23329" y="1120580"/>
            <a:ext cx="61113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  </a:t>
            </a:r>
            <a:r>
              <a:rPr lang="zh-CN" altLang="zh-CN" b="1" dirty="0"/>
              <a:t>输入文件的总体结构是什么？</a:t>
            </a:r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3417384" y="1060607"/>
            <a:ext cx="614753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dirty="0">
                <a:latin typeface="+mn-lt"/>
              </a:rPr>
              <a:t>问题：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raw_states.json 只是一次状态快照</a:t>
            </a:r>
            <a:r>
              <a:rPr lang="en-US" altLang="zh-CN" dirty="0">
                <a:latin typeface="+mn-lt"/>
              </a:rPr>
              <a:t>,</a:t>
            </a:r>
            <a:r>
              <a:rPr lang="zh-CN" altLang="zh-CN" dirty="0">
                <a:latin typeface="+mn-lt"/>
              </a:rPr>
              <a:t>存在字段缺失、接口延迟和异常值，不能直接视为完整当前态势表</a:t>
            </a:r>
            <a:r>
              <a:rPr lang="en-US" altLang="zh-CN" dirty="0">
                <a:latin typeface="+mn-lt"/>
              </a:rPr>
              <a:t>,</a:t>
            </a:r>
            <a:r>
              <a:rPr lang="zh-CN" altLang="en-US" dirty="0">
                <a:latin typeface="+mn-lt"/>
              </a:rPr>
              <a:t>设计流程：</a:t>
            </a:r>
            <a:endParaRPr lang="en-US" altLang="zh-CN" dirty="0">
              <a:latin typeface="+mn-lt"/>
            </a:endParaRPr>
          </a:p>
          <a:p>
            <a:pPr rtl="0">
              <a:buNone/>
            </a:pPr>
            <a:endParaRPr lang="zh-CN" altLang="zh-CN" dirty="0">
              <a:latin typeface="+mn-lt"/>
            </a:endParaRPr>
          </a:p>
          <a:p>
            <a:pPr rtl="0">
              <a:buNone/>
            </a:pPr>
            <a:r>
              <a:rPr lang="zh-CN" altLang="zh-CN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t>OpenSky JSON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solidFill>
                  <a:schemeClr val="accent1"/>
                </a:solidFill>
                <a:latin typeface="+mn-lt"/>
              </a:rPr>
              <a:t>解析</a:t>
            </a:r>
            <a:r>
              <a:rPr lang="zh-CN" altLang="zh-CN" dirty="0">
                <a:latin typeface="+mn-lt"/>
              </a:rPr>
              <a:t>字段字典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solidFill>
                  <a:schemeClr val="accent1"/>
                </a:solidFill>
                <a:latin typeface="+mn-lt"/>
              </a:rPr>
              <a:t>校验</a:t>
            </a:r>
            <a:r>
              <a:rPr lang="zh-CN" altLang="zh-CN" dirty="0">
                <a:latin typeface="+mn-lt"/>
              </a:rPr>
              <a:t>、时间/高度回退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发送方</a:t>
            </a:r>
            <a:r>
              <a:rPr lang="zh-CN" altLang="zh-CN" dirty="0">
                <a:solidFill>
                  <a:schemeClr val="accent1"/>
                </a:solidFill>
                <a:latin typeface="+mn-lt"/>
              </a:rPr>
              <a:t>内部记录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solidFill>
                  <a:schemeClr val="accent1"/>
                </a:solidFill>
                <a:latin typeface="+mn-lt"/>
              </a:rPr>
              <a:t>封装</a:t>
            </a:r>
            <a:r>
              <a:rPr lang="zh-CN" altLang="zh-CN" dirty="0">
                <a:latin typeface="+mn-lt"/>
              </a:rPr>
              <a:t>为 41 字节消息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      ↓</a:t>
            </a:r>
          </a:p>
          <a:p>
            <a:pPr rtl="0">
              <a:buNone/>
            </a:pPr>
            <a:r>
              <a:rPr lang="zh-CN" altLang="zh-CN" dirty="0">
                <a:latin typeface="+mn-lt"/>
              </a:rPr>
              <a:t>TeachingLink </a:t>
            </a:r>
            <a:r>
              <a:rPr lang="zh-CN" altLang="zh-CN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教学链路</a:t>
            </a:r>
            <a:endParaRPr lang="zh-CN" altLang="en-US" dirty="0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6599634" y="2435767"/>
            <a:ext cx="3694379" cy="4385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chemeClr val="accent2">
                    <a:lumMod val="75000"/>
                  </a:schemeClr>
                </a:solidFill>
              </a:rPr>
              <a:t>长度/帧头/校验和/保留位检查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（校验和解封）</a:t>
            </a:r>
            <a:endParaRPr lang="zh-CN" altLang="zh-CN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zh-CN" altLang="zh-CN" dirty="0"/>
              <a:t>      ↓</a:t>
            </a:r>
          </a:p>
          <a:p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接收方内部记录</a:t>
            </a:r>
          </a:p>
          <a:p>
            <a:r>
              <a:rPr lang="zh-CN" altLang="zh-CN" dirty="0"/>
              <a:t>      ↓</a:t>
            </a:r>
          </a:p>
          <a:p>
            <a:r>
              <a:rPr lang="zh-CN" altLang="zh-CN" dirty="0"/>
              <a:t>CSV / SQLite 可选存储</a:t>
            </a:r>
          </a:p>
          <a:p>
            <a:r>
              <a:rPr lang="zh-CN" altLang="zh-CN" dirty="0"/>
              <a:t>      ↓</a:t>
            </a:r>
          </a:p>
          <a:p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航迹生成 → 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当前态势</a:t>
            </a:r>
            <a:endParaRPr lang="en-US" altLang="zh-CN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altLang="zh-CN" dirty="0"/>
              <a:t>                         </a:t>
            </a:r>
            <a:r>
              <a:rPr lang="zh-CN" altLang="zh-CN" dirty="0"/>
              <a:t>↓</a:t>
            </a:r>
            <a:endParaRPr lang="en-US" altLang="zh-CN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zh-CN" dirty="0"/>
              <a:t>语义映射与⼈⼯核验</a:t>
            </a:r>
            <a:r>
              <a:rPr lang="zh-CN" altLang="en-US" dirty="0"/>
              <a:t>（</a:t>
            </a:r>
            <a:r>
              <a:rPr lang="zh-CN" altLang="zh-CN" dirty="0"/>
              <a:t> 输出：统⼀态势模型</a:t>
            </a:r>
            <a:r>
              <a:rPr lang="zh-CN" altLang="en-US" dirty="0"/>
              <a:t>）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→ </a:t>
            </a:r>
            <a:r>
              <a:rPr lang="zh-CN" altLang="zh-CN" dirty="0"/>
              <a:t>⼀致性检查</a:t>
            </a:r>
            <a:br>
              <a:rPr lang="en-US" altLang="zh-CN" dirty="0"/>
            </a:br>
            <a:r>
              <a:rPr lang="en-US" altLang="zh-CN" dirty="0"/>
              <a:t>                            </a:t>
            </a:r>
            <a:r>
              <a:rPr lang="zh-CN" altLang="zh-CN" dirty="0"/>
              <a:t>↓</a:t>
            </a:r>
            <a:endParaRPr lang="en-US" altLang="zh-CN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zh-CN" altLang="en-US" dirty="0"/>
              <a:t>                       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</a:rPr>
              <a:t>最终输出</a:t>
            </a:r>
            <a:br>
              <a:rPr lang="en-US" altLang="zh-CN" dirty="0"/>
            </a:br>
            <a:endParaRPr lang="zh-CN" altLang="zh-CN" dirty="0">
              <a:solidFill>
                <a:schemeClr val="accent6">
                  <a:lumMod val="75000"/>
                </a:schemeClr>
              </a:solidFill>
              <a:effectLst/>
            </a:endParaRPr>
          </a:p>
        </p:txBody>
      </p:sp>
      <p:cxnSp>
        <p:nvCxnSpPr>
          <p:cNvPr id="42" name="直接箭头连接符 41"/>
          <p:cNvCxnSpPr/>
          <p:nvPr/>
        </p:nvCxnSpPr>
        <p:spPr>
          <a:xfrm flipV="1">
            <a:off x="6017790" y="2780815"/>
            <a:ext cx="581660" cy="2292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58285" y="6433132"/>
            <a:ext cx="61475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rPr>
              <a:t>TeachingLink 是课程设计的教学协议，不是真实装备协议或行业标准。</a:t>
            </a:r>
            <a:endParaRPr lang="zh-CN" altLang="zh-CN" sz="1400" dirty="0">
              <a:solidFill>
                <a:schemeClr val="tx1">
                  <a:lumMod val="65000"/>
                  <a:lumOff val="35000"/>
                </a:schemeClr>
              </a:solidFill>
              <a:latin typeface="Courier New" panose="02070309020205020404" pitchFamily="49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3472180" y="5455285"/>
            <a:ext cx="1847850" cy="953135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 wrap="square" rtlCol="0">
            <a:spAutoFit/>
          </a:bodyPr>
          <a:lstStyle/>
          <a:p>
            <a:pPr lvl="0"/>
            <a:r>
              <a:rPr lang="zh-CN" altLang="zh-CN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外部输入</a:t>
            </a:r>
            <a:endParaRPr lang="zh-CN" altLang="zh-CN" sz="1200" dirty="0"/>
          </a:p>
          <a:p>
            <a:pPr lvl="0"/>
            <a:r>
              <a:rPr lang="zh-CN" altLang="zh-CN" sz="1400" dirty="0">
                <a:solidFill>
                  <a:schemeClr val="accent1"/>
                </a:solidFill>
              </a:rPr>
              <a:t>发送方</a:t>
            </a:r>
            <a:br>
              <a:rPr lang="zh-CN" altLang="zh-CN" sz="900" dirty="0"/>
            </a:br>
            <a:r>
              <a:rPr lang="zh-CN" altLang="zh-CN" sz="1400" dirty="0">
                <a:solidFill>
                  <a:schemeClr val="accent2">
                    <a:lumMod val="75000"/>
                  </a:schemeClr>
                </a:solidFill>
              </a:rPr>
              <a:t>链路和接收方</a:t>
            </a:r>
            <a:br>
              <a:rPr lang="zh-CN" altLang="zh-CN" sz="900" dirty="0"/>
            </a:br>
            <a:r>
              <a:rPr lang="zh-CN" altLang="zh-CN" sz="1400" dirty="0">
                <a:solidFill>
                  <a:schemeClr val="accent6">
                    <a:lumMod val="75000"/>
                  </a:schemeClr>
                </a:solidFill>
              </a:rPr>
              <a:t>应用输出</a:t>
            </a:r>
          </a:p>
        </p:txBody>
      </p:sp>
      <p:pic>
        <p:nvPicPr>
          <p:cNvPr id="78" name="图片 7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0" y="1516147"/>
            <a:ext cx="3048157" cy="4692891"/>
          </a:xfrm>
          <a:prstGeom prst="rect">
            <a:avLst/>
          </a:prstGeom>
        </p:spPr>
      </p:pic>
      <p:cxnSp>
        <p:nvCxnSpPr>
          <p:cNvPr id="40" name="直接箭头连接符 39"/>
          <p:cNvCxnSpPr/>
          <p:nvPr/>
        </p:nvCxnSpPr>
        <p:spPr>
          <a:xfrm flipV="1">
            <a:off x="1557706" y="1615459"/>
            <a:ext cx="1974955" cy="1645519"/>
          </a:xfrm>
          <a:prstGeom prst="straightConnector1">
            <a:avLst/>
          </a:prstGeom>
          <a:ln w="15875">
            <a:solidFill>
              <a:srgbClr val="FF0000"/>
            </a:solidFill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71" name="组合 70"/>
          <p:cNvGrpSpPr/>
          <p:nvPr/>
        </p:nvGrpSpPr>
        <p:grpSpPr>
          <a:xfrm>
            <a:off x="0" y="0"/>
            <a:ext cx="12192000" cy="711200"/>
            <a:chOff x="0" y="1"/>
            <a:chExt cx="12192000" cy="711200"/>
          </a:xfrm>
        </p:grpSpPr>
        <p:sp>
          <p:nvSpPr>
            <p:cNvPr id="72" name="矩形 71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8" name="组合 27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76" name="文本框 75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77" name="文本框 76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79" name="文本框 78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81" name="直接连接符 80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4" name="等腰三角形 73"/>
            <p:cNvSpPr/>
            <p:nvPr/>
          </p:nvSpPr>
          <p:spPr>
            <a:xfrm>
              <a:off x="5709460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4" name="表格 3"/>
          <p:cNvGraphicFramePr/>
          <p:nvPr/>
        </p:nvGraphicFramePr>
        <p:xfrm>
          <a:off x="10346690" y="626745"/>
          <a:ext cx="180975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4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分工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成员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倪天鹭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宋星叶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唐丽蓉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赵熙焙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28E4838A-7F86-C429-0E09-ADC00F5F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6184" y="2769091"/>
            <a:ext cx="2080402" cy="20175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746415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文本框 82"/>
          <p:cNvSpPr txBox="1"/>
          <p:nvPr/>
        </p:nvSpPr>
        <p:spPr>
          <a:xfrm>
            <a:off x="551298" y="1513750"/>
            <a:ext cx="1954586" cy="40011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输入</a:t>
            </a:r>
            <a:r>
              <a:rPr lang="en-US" altLang="zh-CN" sz="2000" b="1" dirty="0">
                <a:solidFill>
                  <a:srgbClr val="4472C4"/>
                </a:solidFill>
                <a:cs typeface="+mn-ea"/>
                <a:sym typeface="+mn-lt"/>
              </a:rPr>
              <a:t>+</a:t>
            </a: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核心函数</a:t>
            </a:r>
            <a:endParaRPr kumimoji="0" lang="zh-CN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0" name="文本框 82"/>
          <p:cNvSpPr txBox="1"/>
          <p:nvPr/>
        </p:nvSpPr>
        <p:spPr>
          <a:xfrm>
            <a:off x="540503" y="3748747"/>
            <a:ext cx="1735981" cy="40011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关键机制</a:t>
            </a:r>
          </a:p>
        </p:txBody>
      </p:sp>
      <p:sp>
        <p:nvSpPr>
          <p:cNvPr id="32" name="iconfont-1192-742827"/>
          <p:cNvSpPr/>
          <p:nvPr/>
        </p:nvSpPr>
        <p:spPr>
          <a:xfrm>
            <a:off x="283962" y="1576488"/>
            <a:ext cx="267336" cy="268131"/>
          </a:xfrm>
          <a:custGeom>
            <a:avLst/>
            <a:gdLst>
              <a:gd name="T0" fmla="*/ 8264 w 11898"/>
              <a:gd name="T1" fmla="*/ 11934 h 11934"/>
              <a:gd name="T2" fmla="*/ 6604 w 11898"/>
              <a:gd name="T3" fmla="*/ 7046 h 11934"/>
              <a:gd name="T4" fmla="*/ 7084 w 11898"/>
              <a:gd name="T5" fmla="*/ 6641 h 11934"/>
              <a:gd name="T6" fmla="*/ 11898 w 11898"/>
              <a:gd name="T7" fmla="*/ 8301 h 11934"/>
              <a:gd name="T8" fmla="*/ 10238 w 11898"/>
              <a:gd name="T9" fmla="*/ 11934 h 11934"/>
              <a:gd name="T10" fmla="*/ 7323 w 11898"/>
              <a:gd name="T11" fmla="*/ 10274 h 11934"/>
              <a:gd name="T12" fmla="*/ 10219 w 11898"/>
              <a:gd name="T13" fmla="*/ 11197 h 11934"/>
              <a:gd name="T14" fmla="*/ 11142 w 11898"/>
              <a:gd name="T15" fmla="*/ 8301 h 11934"/>
              <a:gd name="T16" fmla="*/ 7323 w 11898"/>
              <a:gd name="T17" fmla="*/ 7378 h 11934"/>
              <a:gd name="T18" fmla="*/ 1716 w 11898"/>
              <a:gd name="T19" fmla="*/ 11934 h 11934"/>
              <a:gd name="T20" fmla="*/ 0 w 11898"/>
              <a:gd name="T21" fmla="*/ 8374 h 11934"/>
              <a:gd name="T22" fmla="*/ 4815 w 11898"/>
              <a:gd name="T23" fmla="*/ 6659 h 11934"/>
              <a:gd name="T24" fmla="*/ 5294 w 11898"/>
              <a:gd name="T25" fmla="*/ 7065 h 11934"/>
              <a:gd name="T26" fmla="*/ 3560 w 11898"/>
              <a:gd name="T27" fmla="*/ 11934 h 11934"/>
              <a:gd name="T28" fmla="*/ 738 w 11898"/>
              <a:gd name="T29" fmla="*/ 8356 h 11934"/>
              <a:gd name="T30" fmla="*/ 1716 w 11898"/>
              <a:gd name="T31" fmla="*/ 11178 h 11934"/>
              <a:gd name="T32" fmla="*/ 4538 w 11898"/>
              <a:gd name="T33" fmla="*/ 10201 h 11934"/>
              <a:gd name="T34" fmla="*/ 1716 w 11898"/>
              <a:gd name="T35" fmla="*/ 7378 h 11934"/>
              <a:gd name="T36" fmla="*/ 1624 w 11898"/>
              <a:gd name="T37" fmla="*/ 5312 h 11934"/>
              <a:gd name="T38" fmla="*/ 0 w 11898"/>
              <a:gd name="T39" fmla="*/ 1642 h 11934"/>
              <a:gd name="T40" fmla="*/ 3671 w 11898"/>
              <a:gd name="T41" fmla="*/ 18 h 11934"/>
              <a:gd name="T42" fmla="*/ 5294 w 11898"/>
              <a:gd name="T43" fmla="*/ 4907 h 11934"/>
              <a:gd name="T44" fmla="*/ 4815 w 11898"/>
              <a:gd name="T45" fmla="*/ 5312 h 11934"/>
              <a:gd name="T46" fmla="*/ 720 w 11898"/>
              <a:gd name="T47" fmla="*/ 1623 h 11934"/>
              <a:gd name="T48" fmla="*/ 1605 w 11898"/>
              <a:gd name="T49" fmla="*/ 4575 h 11934"/>
              <a:gd name="T50" fmla="*/ 4538 w 11898"/>
              <a:gd name="T51" fmla="*/ 1642 h 11934"/>
              <a:gd name="T52" fmla="*/ 1605 w 11898"/>
              <a:gd name="T53" fmla="*/ 756 h 11934"/>
              <a:gd name="T54" fmla="*/ 10219 w 11898"/>
              <a:gd name="T55" fmla="*/ 5312 h 11934"/>
              <a:gd name="T56" fmla="*/ 6899 w 11898"/>
              <a:gd name="T57" fmla="*/ 5275 h 11934"/>
              <a:gd name="T58" fmla="*/ 6586 w 11898"/>
              <a:gd name="T59" fmla="*/ 1679 h 11934"/>
              <a:gd name="T60" fmla="*/ 10219 w 11898"/>
              <a:gd name="T61" fmla="*/ 0 h 11934"/>
              <a:gd name="T62" fmla="*/ 11898 w 11898"/>
              <a:gd name="T63" fmla="*/ 3634 h 11934"/>
              <a:gd name="T64" fmla="*/ 7323 w 11898"/>
              <a:gd name="T65" fmla="*/ 4574 h 11934"/>
              <a:gd name="T66" fmla="*/ 11142 w 11898"/>
              <a:gd name="T67" fmla="*/ 3634 h 11934"/>
              <a:gd name="T68" fmla="*/ 10201 w 11898"/>
              <a:gd name="T69" fmla="*/ 738 h 11934"/>
              <a:gd name="T70" fmla="*/ 7305 w 11898"/>
              <a:gd name="T71" fmla="*/ 1678 h 11934"/>
              <a:gd name="T72" fmla="*/ 7323 w 11898"/>
              <a:gd name="T73" fmla="*/ 4574 h 11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1898" h="11934">
                <a:moveTo>
                  <a:pt x="10238" y="11934"/>
                </a:moveTo>
                <a:lnTo>
                  <a:pt x="8264" y="11934"/>
                </a:lnTo>
                <a:cubicBezTo>
                  <a:pt x="7342" y="11934"/>
                  <a:pt x="6604" y="11197"/>
                  <a:pt x="6604" y="10274"/>
                </a:cubicBezTo>
                <a:lnTo>
                  <a:pt x="6604" y="7046"/>
                </a:lnTo>
                <a:cubicBezTo>
                  <a:pt x="6604" y="6862"/>
                  <a:pt x="6733" y="6714"/>
                  <a:pt x="6918" y="6677"/>
                </a:cubicBezTo>
                <a:cubicBezTo>
                  <a:pt x="6973" y="6659"/>
                  <a:pt x="7028" y="6641"/>
                  <a:pt x="7084" y="6641"/>
                </a:cubicBezTo>
                <a:lnTo>
                  <a:pt x="10238" y="6641"/>
                </a:lnTo>
                <a:cubicBezTo>
                  <a:pt x="11160" y="6641"/>
                  <a:pt x="11898" y="7378"/>
                  <a:pt x="11898" y="8301"/>
                </a:cubicBezTo>
                <a:lnTo>
                  <a:pt x="11898" y="10274"/>
                </a:lnTo>
                <a:cubicBezTo>
                  <a:pt x="11879" y="11178"/>
                  <a:pt x="11142" y="11934"/>
                  <a:pt x="10238" y="11934"/>
                </a:cubicBezTo>
                <a:close/>
                <a:moveTo>
                  <a:pt x="7323" y="7378"/>
                </a:moveTo>
                <a:lnTo>
                  <a:pt x="7323" y="10274"/>
                </a:lnTo>
                <a:cubicBezTo>
                  <a:pt x="7323" y="10772"/>
                  <a:pt x="7729" y="11197"/>
                  <a:pt x="8246" y="11197"/>
                </a:cubicBezTo>
                <a:lnTo>
                  <a:pt x="10219" y="11197"/>
                </a:lnTo>
                <a:cubicBezTo>
                  <a:pt x="10717" y="11197"/>
                  <a:pt x="11142" y="10791"/>
                  <a:pt x="11142" y="10274"/>
                </a:cubicBezTo>
                <a:lnTo>
                  <a:pt x="11142" y="8301"/>
                </a:lnTo>
                <a:cubicBezTo>
                  <a:pt x="11142" y="7803"/>
                  <a:pt x="10736" y="7378"/>
                  <a:pt x="10219" y="7378"/>
                </a:cubicBezTo>
                <a:lnTo>
                  <a:pt x="7323" y="7378"/>
                </a:lnTo>
                <a:close/>
                <a:moveTo>
                  <a:pt x="3560" y="11934"/>
                </a:moveTo>
                <a:lnTo>
                  <a:pt x="1716" y="11934"/>
                </a:lnTo>
                <a:cubicBezTo>
                  <a:pt x="757" y="11934"/>
                  <a:pt x="0" y="11160"/>
                  <a:pt x="0" y="10219"/>
                </a:cubicBezTo>
                <a:lnTo>
                  <a:pt x="0" y="8374"/>
                </a:lnTo>
                <a:cubicBezTo>
                  <a:pt x="0" y="7415"/>
                  <a:pt x="775" y="6659"/>
                  <a:pt x="1716" y="6659"/>
                </a:cubicBezTo>
                <a:lnTo>
                  <a:pt x="4815" y="6659"/>
                </a:lnTo>
                <a:cubicBezTo>
                  <a:pt x="4870" y="6659"/>
                  <a:pt x="4925" y="6677"/>
                  <a:pt x="4981" y="6696"/>
                </a:cubicBezTo>
                <a:cubicBezTo>
                  <a:pt x="5165" y="6714"/>
                  <a:pt x="5294" y="6880"/>
                  <a:pt x="5294" y="7065"/>
                </a:cubicBezTo>
                <a:lnTo>
                  <a:pt x="5294" y="10237"/>
                </a:lnTo>
                <a:cubicBezTo>
                  <a:pt x="5294" y="11160"/>
                  <a:pt x="4519" y="11934"/>
                  <a:pt x="3560" y="11934"/>
                </a:cubicBezTo>
                <a:close/>
                <a:moveTo>
                  <a:pt x="1716" y="7378"/>
                </a:moveTo>
                <a:cubicBezTo>
                  <a:pt x="1181" y="7378"/>
                  <a:pt x="738" y="7821"/>
                  <a:pt x="738" y="8356"/>
                </a:cubicBezTo>
                <a:lnTo>
                  <a:pt x="738" y="10201"/>
                </a:lnTo>
                <a:cubicBezTo>
                  <a:pt x="738" y="10754"/>
                  <a:pt x="1181" y="11178"/>
                  <a:pt x="1716" y="11178"/>
                </a:cubicBezTo>
                <a:lnTo>
                  <a:pt x="3560" y="11178"/>
                </a:lnTo>
                <a:cubicBezTo>
                  <a:pt x="4095" y="11178"/>
                  <a:pt x="4538" y="10736"/>
                  <a:pt x="4538" y="10201"/>
                </a:cubicBezTo>
                <a:lnTo>
                  <a:pt x="4538" y="7378"/>
                </a:lnTo>
                <a:lnTo>
                  <a:pt x="1716" y="7378"/>
                </a:lnTo>
                <a:close/>
                <a:moveTo>
                  <a:pt x="4815" y="5312"/>
                </a:moveTo>
                <a:lnTo>
                  <a:pt x="1624" y="5312"/>
                </a:lnTo>
                <a:cubicBezTo>
                  <a:pt x="720" y="5312"/>
                  <a:pt x="0" y="4593"/>
                  <a:pt x="0" y="3689"/>
                </a:cubicBezTo>
                <a:lnTo>
                  <a:pt x="0" y="1642"/>
                </a:lnTo>
                <a:cubicBezTo>
                  <a:pt x="0" y="738"/>
                  <a:pt x="720" y="18"/>
                  <a:pt x="1624" y="18"/>
                </a:cubicBezTo>
                <a:lnTo>
                  <a:pt x="3671" y="18"/>
                </a:lnTo>
                <a:cubicBezTo>
                  <a:pt x="4575" y="18"/>
                  <a:pt x="5294" y="738"/>
                  <a:pt x="5294" y="1642"/>
                </a:cubicBezTo>
                <a:lnTo>
                  <a:pt x="5294" y="4907"/>
                </a:lnTo>
                <a:cubicBezTo>
                  <a:pt x="5294" y="5091"/>
                  <a:pt x="5165" y="5239"/>
                  <a:pt x="4981" y="5276"/>
                </a:cubicBezTo>
                <a:cubicBezTo>
                  <a:pt x="4925" y="5294"/>
                  <a:pt x="4870" y="5312"/>
                  <a:pt x="4815" y="5312"/>
                </a:cubicBezTo>
                <a:close/>
                <a:moveTo>
                  <a:pt x="1605" y="738"/>
                </a:moveTo>
                <a:cubicBezTo>
                  <a:pt x="1125" y="738"/>
                  <a:pt x="720" y="1144"/>
                  <a:pt x="720" y="1623"/>
                </a:cubicBezTo>
                <a:lnTo>
                  <a:pt x="720" y="3689"/>
                </a:lnTo>
                <a:cubicBezTo>
                  <a:pt x="720" y="4169"/>
                  <a:pt x="1125" y="4575"/>
                  <a:pt x="1605" y="4575"/>
                </a:cubicBezTo>
                <a:lnTo>
                  <a:pt x="4538" y="4575"/>
                </a:lnTo>
                <a:lnTo>
                  <a:pt x="4538" y="1642"/>
                </a:lnTo>
                <a:cubicBezTo>
                  <a:pt x="4538" y="1162"/>
                  <a:pt x="4132" y="756"/>
                  <a:pt x="3653" y="756"/>
                </a:cubicBezTo>
                <a:lnTo>
                  <a:pt x="1605" y="756"/>
                </a:lnTo>
                <a:lnTo>
                  <a:pt x="1605" y="738"/>
                </a:lnTo>
                <a:close/>
                <a:moveTo>
                  <a:pt x="10219" y="5312"/>
                </a:moveTo>
                <a:lnTo>
                  <a:pt x="7065" y="5312"/>
                </a:lnTo>
                <a:cubicBezTo>
                  <a:pt x="7010" y="5312"/>
                  <a:pt x="6954" y="5294"/>
                  <a:pt x="6899" y="5275"/>
                </a:cubicBezTo>
                <a:cubicBezTo>
                  <a:pt x="6715" y="5257"/>
                  <a:pt x="6586" y="5091"/>
                  <a:pt x="6586" y="4907"/>
                </a:cubicBezTo>
                <a:lnTo>
                  <a:pt x="6586" y="1679"/>
                </a:lnTo>
                <a:cubicBezTo>
                  <a:pt x="6586" y="756"/>
                  <a:pt x="7342" y="0"/>
                  <a:pt x="8264" y="0"/>
                </a:cubicBezTo>
                <a:lnTo>
                  <a:pt x="10219" y="0"/>
                </a:lnTo>
                <a:cubicBezTo>
                  <a:pt x="11142" y="0"/>
                  <a:pt x="11898" y="756"/>
                  <a:pt x="11898" y="1679"/>
                </a:cubicBezTo>
                <a:lnTo>
                  <a:pt x="11898" y="3634"/>
                </a:lnTo>
                <a:cubicBezTo>
                  <a:pt x="11880" y="4556"/>
                  <a:pt x="11142" y="5312"/>
                  <a:pt x="10219" y="5312"/>
                </a:cubicBezTo>
                <a:close/>
                <a:moveTo>
                  <a:pt x="7323" y="4574"/>
                </a:moveTo>
                <a:lnTo>
                  <a:pt x="10201" y="4574"/>
                </a:lnTo>
                <a:cubicBezTo>
                  <a:pt x="10717" y="4574"/>
                  <a:pt x="11142" y="4150"/>
                  <a:pt x="11142" y="3634"/>
                </a:cubicBezTo>
                <a:lnTo>
                  <a:pt x="11142" y="1678"/>
                </a:lnTo>
                <a:cubicBezTo>
                  <a:pt x="11142" y="1162"/>
                  <a:pt x="10717" y="738"/>
                  <a:pt x="10201" y="738"/>
                </a:cubicBezTo>
                <a:lnTo>
                  <a:pt x="8246" y="738"/>
                </a:lnTo>
                <a:cubicBezTo>
                  <a:pt x="7729" y="738"/>
                  <a:pt x="7305" y="1162"/>
                  <a:pt x="7305" y="1678"/>
                </a:cubicBezTo>
                <a:lnTo>
                  <a:pt x="7305" y="4574"/>
                </a:lnTo>
                <a:lnTo>
                  <a:pt x="7323" y="457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sp>
        <p:nvSpPr>
          <p:cNvPr id="33" name="iconfont-1192-742827"/>
          <p:cNvSpPr/>
          <p:nvPr/>
        </p:nvSpPr>
        <p:spPr>
          <a:xfrm>
            <a:off x="267736" y="3814737"/>
            <a:ext cx="267336" cy="268131"/>
          </a:xfrm>
          <a:custGeom>
            <a:avLst/>
            <a:gdLst>
              <a:gd name="T0" fmla="*/ 8264 w 11898"/>
              <a:gd name="T1" fmla="*/ 11934 h 11934"/>
              <a:gd name="T2" fmla="*/ 6604 w 11898"/>
              <a:gd name="T3" fmla="*/ 7046 h 11934"/>
              <a:gd name="T4" fmla="*/ 7084 w 11898"/>
              <a:gd name="T5" fmla="*/ 6641 h 11934"/>
              <a:gd name="T6" fmla="*/ 11898 w 11898"/>
              <a:gd name="T7" fmla="*/ 8301 h 11934"/>
              <a:gd name="T8" fmla="*/ 10238 w 11898"/>
              <a:gd name="T9" fmla="*/ 11934 h 11934"/>
              <a:gd name="T10" fmla="*/ 7323 w 11898"/>
              <a:gd name="T11" fmla="*/ 10274 h 11934"/>
              <a:gd name="T12" fmla="*/ 10219 w 11898"/>
              <a:gd name="T13" fmla="*/ 11197 h 11934"/>
              <a:gd name="T14" fmla="*/ 11142 w 11898"/>
              <a:gd name="T15" fmla="*/ 8301 h 11934"/>
              <a:gd name="T16" fmla="*/ 7323 w 11898"/>
              <a:gd name="T17" fmla="*/ 7378 h 11934"/>
              <a:gd name="T18" fmla="*/ 1716 w 11898"/>
              <a:gd name="T19" fmla="*/ 11934 h 11934"/>
              <a:gd name="T20" fmla="*/ 0 w 11898"/>
              <a:gd name="T21" fmla="*/ 8374 h 11934"/>
              <a:gd name="T22" fmla="*/ 4815 w 11898"/>
              <a:gd name="T23" fmla="*/ 6659 h 11934"/>
              <a:gd name="T24" fmla="*/ 5294 w 11898"/>
              <a:gd name="T25" fmla="*/ 7065 h 11934"/>
              <a:gd name="T26" fmla="*/ 3560 w 11898"/>
              <a:gd name="T27" fmla="*/ 11934 h 11934"/>
              <a:gd name="T28" fmla="*/ 738 w 11898"/>
              <a:gd name="T29" fmla="*/ 8356 h 11934"/>
              <a:gd name="T30" fmla="*/ 1716 w 11898"/>
              <a:gd name="T31" fmla="*/ 11178 h 11934"/>
              <a:gd name="T32" fmla="*/ 4538 w 11898"/>
              <a:gd name="T33" fmla="*/ 10201 h 11934"/>
              <a:gd name="T34" fmla="*/ 1716 w 11898"/>
              <a:gd name="T35" fmla="*/ 7378 h 11934"/>
              <a:gd name="T36" fmla="*/ 1624 w 11898"/>
              <a:gd name="T37" fmla="*/ 5312 h 11934"/>
              <a:gd name="T38" fmla="*/ 0 w 11898"/>
              <a:gd name="T39" fmla="*/ 1642 h 11934"/>
              <a:gd name="T40" fmla="*/ 3671 w 11898"/>
              <a:gd name="T41" fmla="*/ 18 h 11934"/>
              <a:gd name="T42" fmla="*/ 5294 w 11898"/>
              <a:gd name="T43" fmla="*/ 4907 h 11934"/>
              <a:gd name="T44" fmla="*/ 4815 w 11898"/>
              <a:gd name="T45" fmla="*/ 5312 h 11934"/>
              <a:gd name="T46" fmla="*/ 720 w 11898"/>
              <a:gd name="T47" fmla="*/ 1623 h 11934"/>
              <a:gd name="T48" fmla="*/ 1605 w 11898"/>
              <a:gd name="T49" fmla="*/ 4575 h 11934"/>
              <a:gd name="T50" fmla="*/ 4538 w 11898"/>
              <a:gd name="T51" fmla="*/ 1642 h 11934"/>
              <a:gd name="T52" fmla="*/ 1605 w 11898"/>
              <a:gd name="T53" fmla="*/ 756 h 11934"/>
              <a:gd name="T54" fmla="*/ 10219 w 11898"/>
              <a:gd name="T55" fmla="*/ 5312 h 11934"/>
              <a:gd name="T56" fmla="*/ 6899 w 11898"/>
              <a:gd name="T57" fmla="*/ 5275 h 11934"/>
              <a:gd name="T58" fmla="*/ 6586 w 11898"/>
              <a:gd name="T59" fmla="*/ 1679 h 11934"/>
              <a:gd name="T60" fmla="*/ 10219 w 11898"/>
              <a:gd name="T61" fmla="*/ 0 h 11934"/>
              <a:gd name="T62" fmla="*/ 11898 w 11898"/>
              <a:gd name="T63" fmla="*/ 3634 h 11934"/>
              <a:gd name="T64" fmla="*/ 7323 w 11898"/>
              <a:gd name="T65" fmla="*/ 4574 h 11934"/>
              <a:gd name="T66" fmla="*/ 11142 w 11898"/>
              <a:gd name="T67" fmla="*/ 3634 h 11934"/>
              <a:gd name="T68" fmla="*/ 10201 w 11898"/>
              <a:gd name="T69" fmla="*/ 738 h 11934"/>
              <a:gd name="T70" fmla="*/ 7305 w 11898"/>
              <a:gd name="T71" fmla="*/ 1678 h 11934"/>
              <a:gd name="T72" fmla="*/ 7323 w 11898"/>
              <a:gd name="T73" fmla="*/ 4574 h 11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1898" h="11934">
                <a:moveTo>
                  <a:pt x="10238" y="11934"/>
                </a:moveTo>
                <a:lnTo>
                  <a:pt x="8264" y="11934"/>
                </a:lnTo>
                <a:cubicBezTo>
                  <a:pt x="7342" y="11934"/>
                  <a:pt x="6604" y="11197"/>
                  <a:pt x="6604" y="10274"/>
                </a:cubicBezTo>
                <a:lnTo>
                  <a:pt x="6604" y="7046"/>
                </a:lnTo>
                <a:cubicBezTo>
                  <a:pt x="6604" y="6862"/>
                  <a:pt x="6733" y="6714"/>
                  <a:pt x="6918" y="6677"/>
                </a:cubicBezTo>
                <a:cubicBezTo>
                  <a:pt x="6973" y="6659"/>
                  <a:pt x="7028" y="6641"/>
                  <a:pt x="7084" y="6641"/>
                </a:cubicBezTo>
                <a:lnTo>
                  <a:pt x="10238" y="6641"/>
                </a:lnTo>
                <a:cubicBezTo>
                  <a:pt x="11160" y="6641"/>
                  <a:pt x="11898" y="7378"/>
                  <a:pt x="11898" y="8301"/>
                </a:cubicBezTo>
                <a:lnTo>
                  <a:pt x="11898" y="10274"/>
                </a:lnTo>
                <a:cubicBezTo>
                  <a:pt x="11879" y="11178"/>
                  <a:pt x="11142" y="11934"/>
                  <a:pt x="10238" y="11934"/>
                </a:cubicBezTo>
                <a:close/>
                <a:moveTo>
                  <a:pt x="7323" y="7378"/>
                </a:moveTo>
                <a:lnTo>
                  <a:pt x="7323" y="10274"/>
                </a:lnTo>
                <a:cubicBezTo>
                  <a:pt x="7323" y="10772"/>
                  <a:pt x="7729" y="11197"/>
                  <a:pt x="8246" y="11197"/>
                </a:cubicBezTo>
                <a:lnTo>
                  <a:pt x="10219" y="11197"/>
                </a:lnTo>
                <a:cubicBezTo>
                  <a:pt x="10717" y="11197"/>
                  <a:pt x="11142" y="10791"/>
                  <a:pt x="11142" y="10274"/>
                </a:cubicBezTo>
                <a:lnTo>
                  <a:pt x="11142" y="8301"/>
                </a:lnTo>
                <a:cubicBezTo>
                  <a:pt x="11142" y="7803"/>
                  <a:pt x="10736" y="7378"/>
                  <a:pt x="10219" y="7378"/>
                </a:cubicBezTo>
                <a:lnTo>
                  <a:pt x="7323" y="7378"/>
                </a:lnTo>
                <a:close/>
                <a:moveTo>
                  <a:pt x="3560" y="11934"/>
                </a:moveTo>
                <a:lnTo>
                  <a:pt x="1716" y="11934"/>
                </a:lnTo>
                <a:cubicBezTo>
                  <a:pt x="757" y="11934"/>
                  <a:pt x="0" y="11160"/>
                  <a:pt x="0" y="10219"/>
                </a:cubicBezTo>
                <a:lnTo>
                  <a:pt x="0" y="8374"/>
                </a:lnTo>
                <a:cubicBezTo>
                  <a:pt x="0" y="7415"/>
                  <a:pt x="775" y="6659"/>
                  <a:pt x="1716" y="6659"/>
                </a:cubicBezTo>
                <a:lnTo>
                  <a:pt x="4815" y="6659"/>
                </a:lnTo>
                <a:cubicBezTo>
                  <a:pt x="4870" y="6659"/>
                  <a:pt x="4925" y="6677"/>
                  <a:pt x="4981" y="6696"/>
                </a:cubicBezTo>
                <a:cubicBezTo>
                  <a:pt x="5165" y="6714"/>
                  <a:pt x="5294" y="6880"/>
                  <a:pt x="5294" y="7065"/>
                </a:cubicBezTo>
                <a:lnTo>
                  <a:pt x="5294" y="10237"/>
                </a:lnTo>
                <a:cubicBezTo>
                  <a:pt x="5294" y="11160"/>
                  <a:pt x="4519" y="11934"/>
                  <a:pt x="3560" y="11934"/>
                </a:cubicBezTo>
                <a:close/>
                <a:moveTo>
                  <a:pt x="1716" y="7378"/>
                </a:moveTo>
                <a:cubicBezTo>
                  <a:pt x="1181" y="7378"/>
                  <a:pt x="738" y="7821"/>
                  <a:pt x="738" y="8356"/>
                </a:cubicBezTo>
                <a:lnTo>
                  <a:pt x="738" y="10201"/>
                </a:lnTo>
                <a:cubicBezTo>
                  <a:pt x="738" y="10754"/>
                  <a:pt x="1181" y="11178"/>
                  <a:pt x="1716" y="11178"/>
                </a:cubicBezTo>
                <a:lnTo>
                  <a:pt x="3560" y="11178"/>
                </a:lnTo>
                <a:cubicBezTo>
                  <a:pt x="4095" y="11178"/>
                  <a:pt x="4538" y="10736"/>
                  <a:pt x="4538" y="10201"/>
                </a:cubicBezTo>
                <a:lnTo>
                  <a:pt x="4538" y="7378"/>
                </a:lnTo>
                <a:lnTo>
                  <a:pt x="1716" y="7378"/>
                </a:lnTo>
                <a:close/>
                <a:moveTo>
                  <a:pt x="4815" y="5312"/>
                </a:moveTo>
                <a:lnTo>
                  <a:pt x="1624" y="5312"/>
                </a:lnTo>
                <a:cubicBezTo>
                  <a:pt x="720" y="5312"/>
                  <a:pt x="0" y="4593"/>
                  <a:pt x="0" y="3689"/>
                </a:cubicBezTo>
                <a:lnTo>
                  <a:pt x="0" y="1642"/>
                </a:lnTo>
                <a:cubicBezTo>
                  <a:pt x="0" y="738"/>
                  <a:pt x="720" y="18"/>
                  <a:pt x="1624" y="18"/>
                </a:cubicBezTo>
                <a:lnTo>
                  <a:pt x="3671" y="18"/>
                </a:lnTo>
                <a:cubicBezTo>
                  <a:pt x="4575" y="18"/>
                  <a:pt x="5294" y="738"/>
                  <a:pt x="5294" y="1642"/>
                </a:cubicBezTo>
                <a:lnTo>
                  <a:pt x="5294" y="4907"/>
                </a:lnTo>
                <a:cubicBezTo>
                  <a:pt x="5294" y="5091"/>
                  <a:pt x="5165" y="5239"/>
                  <a:pt x="4981" y="5276"/>
                </a:cubicBezTo>
                <a:cubicBezTo>
                  <a:pt x="4925" y="5294"/>
                  <a:pt x="4870" y="5312"/>
                  <a:pt x="4815" y="5312"/>
                </a:cubicBezTo>
                <a:close/>
                <a:moveTo>
                  <a:pt x="1605" y="738"/>
                </a:moveTo>
                <a:cubicBezTo>
                  <a:pt x="1125" y="738"/>
                  <a:pt x="720" y="1144"/>
                  <a:pt x="720" y="1623"/>
                </a:cubicBezTo>
                <a:lnTo>
                  <a:pt x="720" y="3689"/>
                </a:lnTo>
                <a:cubicBezTo>
                  <a:pt x="720" y="4169"/>
                  <a:pt x="1125" y="4575"/>
                  <a:pt x="1605" y="4575"/>
                </a:cubicBezTo>
                <a:lnTo>
                  <a:pt x="4538" y="4575"/>
                </a:lnTo>
                <a:lnTo>
                  <a:pt x="4538" y="1642"/>
                </a:lnTo>
                <a:cubicBezTo>
                  <a:pt x="4538" y="1162"/>
                  <a:pt x="4132" y="756"/>
                  <a:pt x="3653" y="756"/>
                </a:cubicBezTo>
                <a:lnTo>
                  <a:pt x="1605" y="756"/>
                </a:lnTo>
                <a:lnTo>
                  <a:pt x="1605" y="738"/>
                </a:lnTo>
                <a:close/>
                <a:moveTo>
                  <a:pt x="10219" y="5312"/>
                </a:moveTo>
                <a:lnTo>
                  <a:pt x="7065" y="5312"/>
                </a:lnTo>
                <a:cubicBezTo>
                  <a:pt x="7010" y="5312"/>
                  <a:pt x="6954" y="5294"/>
                  <a:pt x="6899" y="5275"/>
                </a:cubicBezTo>
                <a:cubicBezTo>
                  <a:pt x="6715" y="5257"/>
                  <a:pt x="6586" y="5091"/>
                  <a:pt x="6586" y="4907"/>
                </a:cubicBezTo>
                <a:lnTo>
                  <a:pt x="6586" y="1679"/>
                </a:lnTo>
                <a:cubicBezTo>
                  <a:pt x="6586" y="756"/>
                  <a:pt x="7342" y="0"/>
                  <a:pt x="8264" y="0"/>
                </a:cubicBezTo>
                <a:lnTo>
                  <a:pt x="10219" y="0"/>
                </a:lnTo>
                <a:cubicBezTo>
                  <a:pt x="11142" y="0"/>
                  <a:pt x="11898" y="756"/>
                  <a:pt x="11898" y="1679"/>
                </a:cubicBezTo>
                <a:lnTo>
                  <a:pt x="11898" y="3634"/>
                </a:lnTo>
                <a:cubicBezTo>
                  <a:pt x="11880" y="4556"/>
                  <a:pt x="11142" y="5312"/>
                  <a:pt x="10219" y="5312"/>
                </a:cubicBezTo>
                <a:close/>
                <a:moveTo>
                  <a:pt x="7323" y="4574"/>
                </a:moveTo>
                <a:lnTo>
                  <a:pt x="10201" y="4574"/>
                </a:lnTo>
                <a:cubicBezTo>
                  <a:pt x="10717" y="4574"/>
                  <a:pt x="11142" y="4150"/>
                  <a:pt x="11142" y="3634"/>
                </a:cubicBezTo>
                <a:lnTo>
                  <a:pt x="11142" y="1678"/>
                </a:lnTo>
                <a:cubicBezTo>
                  <a:pt x="11142" y="1162"/>
                  <a:pt x="10717" y="738"/>
                  <a:pt x="10201" y="738"/>
                </a:cubicBezTo>
                <a:lnTo>
                  <a:pt x="8246" y="738"/>
                </a:lnTo>
                <a:cubicBezTo>
                  <a:pt x="7729" y="738"/>
                  <a:pt x="7305" y="1162"/>
                  <a:pt x="7305" y="1678"/>
                </a:cubicBezTo>
                <a:lnTo>
                  <a:pt x="7305" y="4574"/>
                </a:lnTo>
                <a:lnTo>
                  <a:pt x="7323" y="457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cs typeface="+mn-ea"/>
              <a:sym typeface="+mn-lt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283557" y="5476785"/>
            <a:ext cx="1944216" cy="400110"/>
            <a:chOff x="9048328" y="1904275"/>
            <a:chExt cx="1944216" cy="400110"/>
          </a:xfrm>
        </p:grpSpPr>
        <p:sp>
          <p:nvSpPr>
            <p:cNvPr id="16" name="文本框 82"/>
            <p:cNvSpPr txBox="1"/>
            <p:nvPr/>
          </p:nvSpPr>
          <p:spPr>
            <a:xfrm>
              <a:off x="9376380" y="1904275"/>
              <a:ext cx="1616164" cy="400110"/>
            </a:xfrm>
            <a:prstGeom prst="rect">
              <a:avLst/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>
              <a:defPPr>
                <a:defRPr lang="zh-CN"/>
              </a:defPPr>
              <a:lvl1pPr algn="ctr">
                <a:defRPr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algn="l">
                <a:defRPr/>
              </a:pPr>
              <a:r>
                <a:rPr lang="zh-CN" altLang="en-US" sz="2000" b="1" dirty="0">
                  <a:solidFill>
                    <a:srgbClr val="4472C4"/>
                  </a:solidFill>
                  <a:cs typeface="+mn-ea"/>
                  <a:sym typeface="+mn-lt"/>
                </a:rPr>
                <a:t>输出产物</a:t>
              </a:r>
            </a:p>
          </p:txBody>
        </p:sp>
        <p:sp>
          <p:nvSpPr>
            <p:cNvPr id="34" name="iconfont-1192-742827"/>
            <p:cNvSpPr/>
            <p:nvPr/>
          </p:nvSpPr>
          <p:spPr>
            <a:xfrm>
              <a:off x="9048328" y="1964832"/>
              <a:ext cx="267336" cy="268131"/>
            </a:xfrm>
            <a:custGeom>
              <a:avLst/>
              <a:gdLst>
                <a:gd name="T0" fmla="*/ 8264 w 11898"/>
                <a:gd name="T1" fmla="*/ 11934 h 11934"/>
                <a:gd name="T2" fmla="*/ 6604 w 11898"/>
                <a:gd name="T3" fmla="*/ 7046 h 11934"/>
                <a:gd name="T4" fmla="*/ 7084 w 11898"/>
                <a:gd name="T5" fmla="*/ 6641 h 11934"/>
                <a:gd name="T6" fmla="*/ 11898 w 11898"/>
                <a:gd name="T7" fmla="*/ 8301 h 11934"/>
                <a:gd name="T8" fmla="*/ 10238 w 11898"/>
                <a:gd name="T9" fmla="*/ 11934 h 11934"/>
                <a:gd name="T10" fmla="*/ 7323 w 11898"/>
                <a:gd name="T11" fmla="*/ 10274 h 11934"/>
                <a:gd name="T12" fmla="*/ 10219 w 11898"/>
                <a:gd name="T13" fmla="*/ 11197 h 11934"/>
                <a:gd name="T14" fmla="*/ 11142 w 11898"/>
                <a:gd name="T15" fmla="*/ 8301 h 11934"/>
                <a:gd name="T16" fmla="*/ 7323 w 11898"/>
                <a:gd name="T17" fmla="*/ 7378 h 11934"/>
                <a:gd name="T18" fmla="*/ 1716 w 11898"/>
                <a:gd name="T19" fmla="*/ 11934 h 11934"/>
                <a:gd name="T20" fmla="*/ 0 w 11898"/>
                <a:gd name="T21" fmla="*/ 8374 h 11934"/>
                <a:gd name="T22" fmla="*/ 4815 w 11898"/>
                <a:gd name="T23" fmla="*/ 6659 h 11934"/>
                <a:gd name="T24" fmla="*/ 5294 w 11898"/>
                <a:gd name="T25" fmla="*/ 7065 h 11934"/>
                <a:gd name="T26" fmla="*/ 3560 w 11898"/>
                <a:gd name="T27" fmla="*/ 11934 h 11934"/>
                <a:gd name="T28" fmla="*/ 738 w 11898"/>
                <a:gd name="T29" fmla="*/ 8356 h 11934"/>
                <a:gd name="T30" fmla="*/ 1716 w 11898"/>
                <a:gd name="T31" fmla="*/ 11178 h 11934"/>
                <a:gd name="T32" fmla="*/ 4538 w 11898"/>
                <a:gd name="T33" fmla="*/ 10201 h 11934"/>
                <a:gd name="T34" fmla="*/ 1716 w 11898"/>
                <a:gd name="T35" fmla="*/ 7378 h 11934"/>
                <a:gd name="T36" fmla="*/ 1624 w 11898"/>
                <a:gd name="T37" fmla="*/ 5312 h 11934"/>
                <a:gd name="T38" fmla="*/ 0 w 11898"/>
                <a:gd name="T39" fmla="*/ 1642 h 11934"/>
                <a:gd name="T40" fmla="*/ 3671 w 11898"/>
                <a:gd name="T41" fmla="*/ 18 h 11934"/>
                <a:gd name="T42" fmla="*/ 5294 w 11898"/>
                <a:gd name="T43" fmla="*/ 4907 h 11934"/>
                <a:gd name="T44" fmla="*/ 4815 w 11898"/>
                <a:gd name="T45" fmla="*/ 5312 h 11934"/>
                <a:gd name="T46" fmla="*/ 720 w 11898"/>
                <a:gd name="T47" fmla="*/ 1623 h 11934"/>
                <a:gd name="T48" fmla="*/ 1605 w 11898"/>
                <a:gd name="T49" fmla="*/ 4575 h 11934"/>
                <a:gd name="T50" fmla="*/ 4538 w 11898"/>
                <a:gd name="T51" fmla="*/ 1642 h 11934"/>
                <a:gd name="T52" fmla="*/ 1605 w 11898"/>
                <a:gd name="T53" fmla="*/ 756 h 11934"/>
                <a:gd name="T54" fmla="*/ 10219 w 11898"/>
                <a:gd name="T55" fmla="*/ 5312 h 11934"/>
                <a:gd name="T56" fmla="*/ 6899 w 11898"/>
                <a:gd name="T57" fmla="*/ 5275 h 11934"/>
                <a:gd name="T58" fmla="*/ 6586 w 11898"/>
                <a:gd name="T59" fmla="*/ 1679 h 11934"/>
                <a:gd name="T60" fmla="*/ 10219 w 11898"/>
                <a:gd name="T61" fmla="*/ 0 h 11934"/>
                <a:gd name="T62" fmla="*/ 11898 w 11898"/>
                <a:gd name="T63" fmla="*/ 3634 h 11934"/>
                <a:gd name="T64" fmla="*/ 7323 w 11898"/>
                <a:gd name="T65" fmla="*/ 4574 h 11934"/>
                <a:gd name="T66" fmla="*/ 11142 w 11898"/>
                <a:gd name="T67" fmla="*/ 3634 h 11934"/>
                <a:gd name="T68" fmla="*/ 10201 w 11898"/>
                <a:gd name="T69" fmla="*/ 738 h 11934"/>
                <a:gd name="T70" fmla="*/ 7305 w 11898"/>
                <a:gd name="T71" fmla="*/ 1678 h 11934"/>
                <a:gd name="T72" fmla="*/ 7323 w 11898"/>
                <a:gd name="T73" fmla="*/ 4574 h 119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1898" h="11934">
                  <a:moveTo>
                    <a:pt x="10238" y="11934"/>
                  </a:moveTo>
                  <a:lnTo>
                    <a:pt x="8264" y="11934"/>
                  </a:lnTo>
                  <a:cubicBezTo>
                    <a:pt x="7342" y="11934"/>
                    <a:pt x="6604" y="11197"/>
                    <a:pt x="6604" y="10274"/>
                  </a:cubicBezTo>
                  <a:lnTo>
                    <a:pt x="6604" y="7046"/>
                  </a:lnTo>
                  <a:cubicBezTo>
                    <a:pt x="6604" y="6862"/>
                    <a:pt x="6733" y="6714"/>
                    <a:pt x="6918" y="6677"/>
                  </a:cubicBezTo>
                  <a:cubicBezTo>
                    <a:pt x="6973" y="6659"/>
                    <a:pt x="7028" y="6641"/>
                    <a:pt x="7084" y="6641"/>
                  </a:cubicBezTo>
                  <a:lnTo>
                    <a:pt x="10238" y="6641"/>
                  </a:lnTo>
                  <a:cubicBezTo>
                    <a:pt x="11160" y="6641"/>
                    <a:pt x="11898" y="7378"/>
                    <a:pt x="11898" y="8301"/>
                  </a:cubicBezTo>
                  <a:lnTo>
                    <a:pt x="11898" y="10274"/>
                  </a:lnTo>
                  <a:cubicBezTo>
                    <a:pt x="11879" y="11178"/>
                    <a:pt x="11142" y="11934"/>
                    <a:pt x="10238" y="11934"/>
                  </a:cubicBezTo>
                  <a:close/>
                  <a:moveTo>
                    <a:pt x="7323" y="7378"/>
                  </a:moveTo>
                  <a:lnTo>
                    <a:pt x="7323" y="10274"/>
                  </a:lnTo>
                  <a:cubicBezTo>
                    <a:pt x="7323" y="10772"/>
                    <a:pt x="7729" y="11197"/>
                    <a:pt x="8246" y="11197"/>
                  </a:cubicBezTo>
                  <a:lnTo>
                    <a:pt x="10219" y="11197"/>
                  </a:lnTo>
                  <a:cubicBezTo>
                    <a:pt x="10717" y="11197"/>
                    <a:pt x="11142" y="10791"/>
                    <a:pt x="11142" y="10274"/>
                  </a:cubicBezTo>
                  <a:lnTo>
                    <a:pt x="11142" y="8301"/>
                  </a:lnTo>
                  <a:cubicBezTo>
                    <a:pt x="11142" y="7803"/>
                    <a:pt x="10736" y="7378"/>
                    <a:pt x="10219" y="7378"/>
                  </a:cubicBezTo>
                  <a:lnTo>
                    <a:pt x="7323" y="7378"/>
                  </a:lnTo>
                  <a:close/>
                  <a:moveTo>
                    <a:pt x="3560" y="11934"/>
                  </a:moveTo>
                  <a:lnTo>
                    <a:pt x="1716" y="11934"/>
                  </a:lnTo>
                  <a:cubicBezTo>
                    <a:pt x="757" y="11934"/>
                    <a:pt x="0" y="11160"/>
                    <a:pt x="0" y="10219"/>
                  </a:cubicBezTo>
                  <a:lnTo>
                    <a:pt x="0" y="8374"/>
                  </a:lnTo>
                  <a:cubicBezTo>
                    <a:pt x="0" y="7415"/>
                    <a:pt x="775" y="6659"/>
                    <a:pt x="1716" y="6659"/>
                  </a:cubicBezTo>
                  <a:lnTo>
                    <a:pt x="4815" y="6659"/>
                  </a:lnTo>
                  <a:cubicBezTo>
                    <a:pt x="4870" y="6659"/>
                    <a:pt x="4925" y="6677"/>
                    <a:pt x="4981" y="6696"/>
                  </a:cubicBezTo>
                  <a:cubicBezTo>
                    <a:pt x="5165" y="6714"/>
                    <a:pt x="5294" y="6880"/>
                    <a:pt x="5294" y="7065"/>
                  </a:cubicBezTo>
                  <a:lnTo>
                    <a:pt x="5294" y="10237"/>
                  </a:lnTo>
                  <a:cubicBezTo>
                    <a:pt x="5294" y="11160"/>
                    <a:pt x="4519" y="11934"/>
                    <a:pt x="3560" y="11934"/>
                  </a:cubicBezTo>
                  <a:close/>
                  <a:moveTo>
                    <a:pt x="1716" y="7378"/>
                  </a:moveTo>
                  <a:cubicBezTo>
                    <a:pt x="1181" y="7378"/>
                    <a:pt x="738" y="7821"/>
                    <a:pt x="738" y="8356"/>
                  </a:cubicBezTo>
                  <a:lnTo>
                    <a:pt x="738" y="10201"/>
                  </a:lnTo>
                  <a:cubicBezTo>
                    <a:pt x="738" y="10754"/>
                    <a:pt x="1181" y="11178"/>
                    <a:pt x="1716" y="11178"/>
                  </a:cubicBezTo>
                  <a:lnTo>
                    <a:pt x="3560" y="11178"/>
                  </a:lnTo>
                  <a:cubicBezTo>
                    <a:pt x="4095" y="11178"/>
                    <a:pt x="4538" y="10736"/>
                    <a:pt x="4538" y="10201"/>
                  </a:cubicBezTo>
                  <a:lnTo>
                    <a:pt x="4538" y="7378"/>
                  </a:lnTo>
                  <a:lnTo>
                    <a:pt x="1716" y="7378"/>
                  </a:lnTo>
                  <a:close/>
                  <a:moveTo>
                    <a:pt x="4815" y="5312"/>
                  </a:moveTo>
                  <a:lnTo>
                    <a:pt x="1624" y="5312"/>
                  </a:lnTo>
                  <a:cubicBezTo>
                    <a:pt x="720" y="5312"/>
                    <a:pt x="0" y="4593"/>
                    <a:pt x="0" y="3689"/>
                  </a:cubicBezTo>
                  <a:lnTo>
                    <a:pt x="0" y="1642"/>
                  </a:lnTo>
                  <a:cubicBezTo>
                    <a:pt x="0" y="738"/>
                    <a:pt x="720" y="18"/>
                    <a:pt x="1624" y="18"/>
                  </a:cubicBezTo>
                  <a:lnTo>
                    <a:pt x="3671" y="18"/>
                  </a:lnTo>
                  <a:cubicBezTo>
                    <a:pt x="4575" y="18"/>
                    <a:pt x="5294" y="738"/>
                    <a:pt x="5294" y="1642"/>
                  </a:cubicBezTo>
                  <a:lnTo>
                    <a:pt x="5294" y="4907"/>
                  </a:lnTo>
                  <a:cubicBezTo>
                    <a:pt x="5294" y="5091"/>
                    <a:pt x="5165" y="5239"/>
                    <a:pt x="4981" y="5276"/>
                  </a:cubicBezTo>
                  <a:cubicBezTo>
                    <a:pt x="4925" y="5294"/>
                    <a:pt x="4870" y="5312"/>
                    <a:pt x="4815" y="5312"/>
                  </a:cubicBezTo>
                  <a:close/>
                  <a:moveTo>
                    <a:pt x="1605" y="738"/>
                  </a:moveTo>
                  <a:cubicBezTo>
                    <a:pt x="1125" y="738"/>
                    <a:pt x="720" y="1144"/>
                    <a:pt x="720" y="1623"/>
                  </a:cubicBezTo>
                  <a:lnTo>
                    <a:pt x="720" y="3689"/>
                  </a:lnTo>
                  <a:cubicBezTo>
                    <a:pt x="720" y="4169"/>
                    <a:pt x="1125" y="4575"/>
                    <a:pt x="1605" y="4575"/>
                  </a:cubicBezTo>
                  <a:lnTo>
                    <a:pt x="4538" y="4575"/>
                  </a:lnTo>
                  <a:lnTo>
                    <a:pt x="4538" y="1642"/>
                  </a:lnTo>
                  <a:cubicBezTo>
                    <a:pt x="4538" y="1162"/>
                    <a:pt x="4132" y="756"/>
                    <a:pt x="3653" y="756"/>
                  </a:cubicBezTo>
                  <a:lnTo>
                    <a:pt x="1605" y="756"/>
                  </a:lnTo>
                  <a:lnTo>
                    <a:pt x="1605" y="738"/>
                  </a:lnTo>
                  <a:close/>
                  <a:moveTo>
                    <a:pt x="10219" y="5312"/>
                  </a:moveTo>
                  <a:lnTo>
                    <a:pt x="7065" y="5312"/>
                  </a:lnTo>
                  <a:cubicBezTo>
                    <a:pt x="7010" y="5312"/>
                    <a:pt x="6954" y="5294"/>
                    <a:pt x="6899" y="5275"/>
                  </a:cubicBezTo>
                  <a:cubicBezTo>
                    <a:pt x="6715" y="5257"/>
                    <a:pt x="6586" y="5091"/>
                    <a:pt x="6586" y="4907"/>
                  </a:cubicBezTo>
                  <a:lnTo>
                    <a:pt x="6586" y="1679"/>
                  </a:lnTo>
                  <a:cubicBezTo>
                    <a:pt x="6586" y="756"/>
                    <a:pt x="7342" y="0"/>
                    <a:pt x="8264" y="0"/>
                  </a:cubicBezTo>
                  <a:lnTo>
                    <a:pt x="10219" y="0"/>
                  </a:lnTo>
                  <a:cubicBezTo>
                    <a:pt x="11142" y="0"/>
                    <a:pt x="11898" y="756"/>
                    <a:pt x="11898" y="1679"/>
                  </a:cubicBezTo>
                  <a:lnTo>
                    <a:pt x="11898" y="3634"/>
                  </a:lnTo>
                  <a:cubicBezTo>
                    <a:pt x="11880" y="4556"/>
                    <a:pt x="11142" y="5312"/>
                    <a:pt x="10219" y="5312"/>
                  </a:cubicBezTo>
                  <a:close/>
                  <a:moveTo>
                    <a:pt x="7323" y="4574"/>
                  </a:moveTo>
                  <a:lnTo>
                    <a:pt x="10201" y="4574"/>
                  </a:lnTo>
                  <a:cubicBezTo>
                    <a:pt x="10717" y="4574"/>
                    <a:pt x="11142" y="4150"/>
                    <a:pt x="11142" y="3634"/>
                  </a:cubicBezTo>
                  <a:lnTo>
                    <a:pt x="11142" y="1678"/>
                  </a:lnTo>
                  <a:cubicBezTo>
                    <a:pt x="11142" y="1162"/>
                    <a:pt x="10717" y="738"/>
                    <a:pt x="10201" y="738"/>
                  </a:cubicBezTo>
                  <a:lnTo>
                    <a:pt x="8246" y="738"/>
                  </a:lnTo>
                  <a:cubicBezTo>
                    <a:pt x="7729" y="738"/>
                    <a:pt x="7305" y="1162"/>
                    <a:pt x="7305" y="1678"/>
                  </a:cubicBezTo>
                  <a:lnTo>
                    <a:pt x="7305" y="4574"/>
                  </a:lnTo>
                  <a:lnTo>
                    <a:pt x="7323" y="4574"/>
                  </a:ln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cs typeface="+mn-ea"/>
                <a:sym typeface="+mn-lt"/>
              </a:endParaRPr>
            </a:p>
          </p:txBody>
        </p:sp>
      </p:grpSp>
      <p:sp>
        <p:nvSpPr>
          <p:cNvPr id="36" name="文本框 83"/>
          <p:cNvSpPr txBox="1"/>
          <p:nvPr/>
        </p:nvSpPr>
        <p:spPr>
          <a:xfrm>
            <a:off x="540385" y="4149090"/>
            <a:ext cx="5144135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zh-CN" altLang="zh-CN" sz="1400" dirty="0"/>
              <a:t>大端网络字节序；定点编码比例因子 + 偏移完成物理值↔整数转换</a:t>
            </a:r>
          </a:p>
          <a:p>
            <a:pPr lvl="0"/>
            <a:r>
              <a:rPr lang="zh-CN" altLang="zh-CN" sz="1400" dirty="0"/>
              <a:t>区分：帧 message_valid 仅代表协议格式合法，不等于业务数据可信</a:t>
            </a:r>
          </a:p>
          <a:p>
            <a:pPr lvl="0"/>
            <a:r>
              <a:rPr lang="zh-CN" altLang="zh-CN" sz="1400" dirty="0"/>
              <a:t>错误不崩溃：记录 error_list，继续处理后续帧</a:t>
            </a:r>
            <a:endParaRPr lang="zh-CN" altLang="zh-CN" sz="1400" dirty="0">
              <a:effectLst/>
            </a:endParaRPr>
          </a:p>
        </p:txBody>
      </p:sp>
      <p:sp>
        <p:nvSpPr>
          <p:cNvPr id="37" name="文本框 83"/>
          <p:cNvSpPr txBox="1"/>
          <p:nvPr/>
        </p:nvSpPr>
        <p:spPr>
          <a:xfrm>
            <a:off x="599440" y="5922645"/>
            <a:ext cx="4939030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zh-CN" altLang="zh-CN" sz="1400" dirty="0"/>
              <a:t>encoded_messages.bin：41 字节二进制消息流</a:t>
            </a:r>
          </a:p>
          <a:p>
            <a:pPr lvl="0"/>
            <a:r>
              <a:rPr lang="zh-CN" altLang="zh-CN" sz="1400" dirty="0"/>
              <a:t>decoded_partner_states.csv：接收解码结构化记录</a:t>
            </a:r>
          </a:p>
          <a:p>
            <a:pPr lvl="0"/>
            <a:r>
              <a:rPr lang="zh-CN" altLang="zh-CN" sz="1400" dirty="0"/>
              <a:t>validation_log.csv：帧、字段校验错误日志</a:t>
            </a:r>
          </a:p>
          <a:p>
            <a:pPr lvl="0"/>
            <a:r>
              <a:rPr lang="zh-CN" altLang="zh-CN" sz="1400" dirty="0"/>
              <a:t>roundtrip_report.csv：编解码往返测试报告</a:t>
            </a:r>
            <a:endParaRPr lang="zh-CN" altLang="zh-CN" sz="1400" dirty="0">
              <a:effectLst/>
            </a:endParaRPr>
          </a:p>
        </p:txBody>
      </p:sp>
      <p:grpSp>
        <p:nvGrpSpPr>
          <p:cNvPr id="53" name="组合 52"/>
          <p:cNvGrpSpPr/>
          <p:nvPr/>
        </p:nvGrpSpPr>
        <p:grpSpPr>
          <a:xfrm>
            <a:off x="339358" y="951820"/>
            <a:ext cx="4800911" cy="460375"/>
            <a:chOff x="934400" y="936575"/>
            <a:chExt cx="4800911" cy="460375"/>
          </a:xfrm>
        </p:grpSpPr>
        <p:sp>
          <p:nvSpPr>
            <p:cNvPr id="54" name="文本框 53"/>
            <p:cNvSpPr txBox="1"/>
            <p:nvPr/>
          </p:nvSpPr>
          <p:spPr>
            <a:xfrm>
              <a:off x="1065521" y="936575"/>
              <a:ext cx="4669790" cy="4603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zh-CN" sz="2400" b="1" dirty="0"/>
                <a:t>M2 TeachingLink 41 字节帧要点</a:t>
              </a:r>
              <a:endParaRPr lang="zh-CN" altLang="en-US" sz="2400" b="1" dirty="0"/>
            </a:p>
          </p:txBody>
        </p:sp>
        <p:sp>
          <p:nvSpPr>
            <p:cNvPr id="55" name="矩形 54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" name="文本框 83"/>
          <p:cNvSpPr txBox="1"/>
          <p:nvPr/>
        </p:nvSpPr>
        <p:spPr>
          <a:xfrm>
            <a:off x="540385" y="1959610"/>
            <a:ext cx="519557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buClr>
                <a:srgbClr val="E24848"/>
              </a:buClr>
              <a:defRPr/>
            </a:pPr>
            <a:r>
              <a:rPr lang="zh-CN" altLang="zh-CN" sz="1400" dirty="0"/>
              <a:t>OpenSky 原始快照：raw_states.json（存在字段缺失、null 异常值）</a:t>
            </a:r>
            <a:endParaRPr lang="en-US" altLang="zh-CN" sz="1400" dirty="0"/>
          </a:p>
          <a:p>
            <a:pPr lvl="0"/>
            <a:r>
              <a:rPr lang="zh-CN" altLang="zh-CN" sz="1400" dirty="0"/>
              <a:t>parse_state_vector()：解析 OpenSky 原始数组，生成发送方内部记录</a:t>
            </a:r>
          </a:p>
          <a:p>
            <a:pPr lvl="0"/>
            <a:r>
              <a:rPr lang="zh-CN" altLang="zh-CN" sz="1400" dirty="0"/>
              <a:t>encode_position_message()：定点量化、封装 41 字节 TeachingLink 帧，计算calculate_checksum校验和</a:t>
            </a:r>
          </a:p>
          <a:p>
            <a:pPr lvl="0"/>
            <a:r>
              <a:rPr lang="zh-CN" altLang="zh-CN" sz="1400" dirty="0"/>
              <a:t>decode_position_message()：接收端帧头、校验和、保留位校验；定点反解析；输出结构化字典</a:t>
            </a:r>
          </a:p>
          <a:p>
            <a:pPr lvl="0" algn="just">
              <a:buClr>
                <a:srgbClr val="E24848"/>
              </a:buClr>
              <a:defRPr/>
            </a:pPr>
            <a:endParaRPr kumimoji="0" lang="zh-CN" altLang="zh-CN" sz="1400" i="0" u="none" strike="noStrike" kern="1200" cap="none" spc="0" normalizeH="0" baseline="0" noProof="1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2064031" y="5477060"/>
            <a:ext cx="44743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200" dirty="0">
                <a:solidFill>
                  <a:srgbClr val="FF0000"/>
                </a:solidFill>
              </a:rPr>
              <a:t>raw_states.json → parse → encode → encoded_messages.bin</a:t>
            </a:r>
            <a:endParaRPr lang="en-US" altLang="zh-CN" sz="1200" dirty="0">
              <a:solidFill>
                <a:srgbClr val="FF0000"/>
              </a:solidFill>
            </a:endParaRPr>
          </a:p>
          <a:p>
            <a:r>
              <a:rPr lang="zh-CN" altLang="zh-CN" sz="1200" dirty="0">
                <a:solidFill>
                  <a:srgbClr val="FF0000"/>
                </a:solidFill>
              </a:rPr>
              <a:t>→decode → 解码CSV+校验日志，供给下游M3航迹模块</a:t>
            </a:r>
          </a:p>
        </p:txBody>
      </p:sp>
      <p:grpSp>
        <p:nvGrpSpPr>
          <p:cNvPr id="65" name="组合 64"/>
          <p:cNvGrpSpPr/>
          <p:nvPr/>
        </p:nvGrpSpPr>
        <p:grpSpPr>
          <a:xfrm>
            <a:off x="6239112" y="946692"/>
            <a:ext cx="441001" cy="460375"/>
            <a:chOff x="934400" y="936575"/>
            <a:chExt cx="441001" cy="460375"/>
          </a:xfrm>
        </p:grpSpPr>
        <p:sp>
          <p:nvSpPr>
            <p:cNvPr id="66" name="文本框 65"/>
            <p:cNvSpPr txBox="1"/>
            <p:nvPr/>
          </p:nvSpPr>
          <p:spPr>
            <a:xfrm>
              <a:off x="1065521" y="936575"/>
              <a:ext cx="309880" cy="4603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2400" dirty="0">
                <a:solidFill>
                  <a:srgbClr val="0E419C"/>
                </a:solidFill>
              </a:endParaRPr>
            </a:p>
          </p:txBody>
        </p:sp>
        <p:sp>
          <p:nvSpPr>
            <p:cNvPr id="67" name="矩形 66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680200" y="974090"/>
            <a:ext cx="48298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/>
              <a:t>M3 </a:t>
            </a:r>
            <a:r>
              <a:rPr lang="zh-CN" altLang="en-US" sz="2400" b="1"/>
              <a:t>单源多时刻关联与当前态势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6795135" y="1513840"/>
            <a:ext cx="5059045" cy="48558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zh-CN" altLang="en-US" b="1"/>
              <a:t>输入+核心函数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TeachingLink </a:t>
            </a:r>
            <a:r>
              <a:rPr lang="zh-CN" altLang="en-US" sz="1400"/>
              <a:t>多时刻二进制帧输出产物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400"/>
              <a:t>partner_messages_multitime.bin（3</a:t>
            </a:r>
            <a:r>
              <a:rPr lang="zh-CN" altLang="en-US" sz="1400"/>
              <a:t>目标 × 3时刻 = 9帧）</a:t>
            </a:r>
            <a:endParaRPr lang="en-US" altLang="zh-CN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read_and_decode_frames()：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/>
              <a:t>按41字节切分二进制流，调用</a:t>
            </a:r>
            <a:r>
              <a:rPr lang="en-US" altLang="zh-CN" sz="1400"/>
              <a:t>M2</a:t>
            </a:r>
            <a:r>
              <a:rPr lang="zh-CN" altLang="en-US" sz="1400"/>
              <a:t>解码器逐帧解析，过滤</a:t>
            </a:r>
            <a:r>
              <a:rPr lang="en-US" altLang="zh-CN" sz="1400"/>
              <a:t>message_valid=True</a:t>
            </a:r>
            <a:r>
              <a:rPr lang="zh-CN" altLang="en-US" sz="1400"/>
              <a:t>的可接受记录</a:t>
            </a:r>
            <a:endParaRPr lang="en-US" altLang="zh-CN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build_tracks_and_situation()：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400"/>
              <a:t>按</a:t>
            </a:r>
            <a:r>
              <a:rPr lang="en-US" altLang="zh-CN" sz="1400"/>
              <a:t>target_id</a:t>
            </a:r>
            <a:r>
              <a:rPr lang="zh-CN" altLang="en-US" sz="1400"/>
              <a:t>分组，组内按</a:t>
            </a:r>
            <a:r>
              <a:rPr lang="en-US" altLang="zh-CN" sz="1400"/>
              <a:t>timestamp</a:t>
            </a:r>
            <a:r>
              <a:rPr lang="zh-CN" altLang="en-US" sz="1400"/>
              <a:t>升序排列，生成</a:t>
            </a:r>
            <a:r>
              <a:rPr lang="en-US" altLang="zh-CN" sz="1400"/>
              <a:t>track_sequence_no，</a:t>
            </a:r>
            <a:r>
              <a:rPr lang="zh-CN" altLang="en-US" sz="1400"/>
              <a:t>提取每组最新记录作为当前态势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zh-CN" altLang="en-US" sz="1400"/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2000" b="1"/>
              <a:t>关键机制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timestamp</a:t>
            </a:r>
            <a:r>
              <a:rPr lang="zh-CN" altLang="en-US" sz="1400"/>
              <a:t>为航迹时间，</a:t>
            </a:r>
            <a:r>
              <a:rPr lang="en-US" altLang="zh-CN" sz="1400"/>
              <a:t>message_seq</a:t>
            </a:r>
            <a:r>
              <a:rPr lang="zh-CN" altLang="en-US" sz="1400"/>
              <a:t>仅追踪发送顺序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/>
              <a:t>可选字段缺失不影响记录进入航迹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/>
              <a:t>尾部残余字节记录</a:t>
            </a:r>
            <a:r>
              <a:rPr lang="en-US" altLang="zh-CN" sz="1400"/>
              <a:t>LENGTH_ERROR</a:t>
            </a:r>
            <a:r>
              <a:rPr lang="zh-CN" altLang="en-US" sz="1400"/>
              <a:t>并忽略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6887845" y="1434465"/>
            <a:ext cx="4932045" cy="51288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b="1"/>
              <a:t>流程</a:t>
            </a:r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endParaRPr lang="zh-CN" altLang="en-US" b="1"/>
          </a:p>
          <a:p>
            <a:pPr>
              <a:lnSpc>
                <a:spcPct val="150000"/>
              </a:lnSpc>
            </a:pPr>
            <a:r>
              <a:rPr lang="zh-CN" altLang="en-US" b="1"/>
              <a:t>输出产物</a:t>
            </a:r>
            <a:endParaRPr lang="en-US" altLang="zh-CN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decoded_multitime.csv：</a:t>
            </a:r>
            <a:r>
              <a:rPr lang="zh-CN" altLang="en-US" sz="1400"/>
              <a:t>全部解码记录</a:t>
            </a:r>
            <a:r>
              <a:rPr lang="en-US" altLang="zh-CN" sz="1400"/>
              <a:t>track_table.csv：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/>
              <a:t>按目标分组的完整航迹表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current_situation.csv：</a:t>
            </a:r>
            <a:r>
              <a:rPr lang="zh-CN" altLang="en-US" sz="1400"/>
              <a:t>每个目标最新时刻的当前态势</a:t>
            </a:r>
            <a:endParaRPr lang="en-US" altLang="zh-CN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400"/>
              <a:t>states.db：SQLite</a:t>
            </a:r>
            <a:r>
              <a:rPr lang="zh-CN" altLang="en-US" sz="1400"/>
              <a:t>持久化存储（选做）</a:t>
            </a: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zh-CN" sz="1400"/>
          </a:p>
        </p:txBody>
      </p:sp>
      <p:sp>
        <p:nvSpPr>
          <p:cNvPr id="27" name="流程图: 过程 26"/>
          <p:cNvSpPr/>
          <p:nvPr/>
        </p:nvSpPr>
        <p:spPr>
          <a:xfrm>
            <a:off x="7398385" y="2016760"/>
            <a:ext cx="3744595" cy="351155"/>
          </a:xfrm>
          <a:prstGeom prst="flowChartProcess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bg1"/>
                </a:solidFill>
              </a:rPr>
              <a:t>输入</a:t>
            </a:r>
            <a:r>
              <a:rPr lang="en-US" altLang="zh-CN" sz="1400">
                <a:solidFill>
                  <a:schemeClr val="bg1"/>
                </a:solidFill>
              </a:rPr>
              <a:t>partner_messages_multitime.bin</a:t>
            </a:r>
          </a:p>
        </p:txBody>
      </p:sp>
      <p:cxnSp>
        <p:nvCxnSpPr>
          <p:cNvPr id="28" name="直接箭头连接符 27"/>
          <p:cNvCxnSpPr>
            <a:stCxn id="27" idx="2"/>
          </p:cNvCxnSpPr>
          <p:nvPr/>
        </p:nvCxnSpPr>
        <p:spPr>
          <a:xfrm>
            <a:off x="9271000" y="2367915"/>
            <a:ext cx="0" cy="2247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流程图: 过程 28"/>
          <p:cNvSpPr/>
          <p:nvPr/>
        </p:nvSpPr>
        <p:spPr>
          <a:xfrm>
            <a:off x="7398385" y="2592705"/>
            <a:ext cx="3744595" cy="854075"/>
          </a:xfrm>
          <a:prstGeom prst="flowChart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bg1"/>
                </a:solidFill>
              </a:rPr>
              <a:t>按</a:t>
            </a:r>
            <a:r>
              <a:rPr lang="en-US" altLang="zh-CN" sz="1400">
                <a:solidFill>
                  <a:schemeClr val="bg1"/>
                </a:solidFill>
              </a:rPr>
              <a:t>target_id</a:t>
            </a:r>
            <a:r>
              <a:rPr lang="zh-CN" altLang="en-US" sz="1400">
                <a:solidFill>
                  <a:schemeClr val="bg1"/>
                </a:solidFill>
              </a:rPr>
              <a:t>分组 </a:t>
            </a:r>
          </a:p>
          <a:p>
            <a:pPr algn="ctr"/>
            <a:r>
              <a:rPr lang="zh-CN" altLang="en-US" sz="1400">
                <a:solidFill>
                  <a:schemeClr val="bg1"/>
                </a:solidFill>
              </a:rPr>
              <a:t>按</a:t>
            </a:r>
            <a:r>
              <a:rPr lang="en-US" altLang="zh-CN" sz="1400">
                <a:solidFill>
                  <a:schemeClr val="bg1"/>
                </a:solidFill>
              </a:rPr>
              <a:t>timestamp</a:t>
            </a:r>
            <a:r>
              <a:rPr lang="zh-CN" altLang="en-US" sz="1400">
                <a:solidFill>
                  <a:schemeClr val="bg1"/>
                </a:solidFill>
              </a:rPr>
              <a:t>排序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track_sequence_no</a:t>
            </a:r>
            <a:r>
              <a:rPr lang="zh-CN" altLang="en-US" sz="1400">
                <a:solidFill>
                  <a:schemeClr val="bg1"/>
                </a:solidFill>
              </a:rPr>
              <a:t>提取最新记录</a:t>
            </a:r>
          </a:p>
        </p:txBody>
      </p:sp>
      <p:cxnSp>
        <p:nvCxnSpPr>
          <p:cNvPr id="43" name="直接箭头连接符 42"/>
          <p:cNvCxnSpPr>
            <a:stCxn id="29" idx="2"/>
          </p:cNvCxnSpPr>
          <p:nvPr/>
        </p:nvCxnSpPr>
        <p:spPr>
          <a:xfrm>
            <a:off x="9271000" y="3446780"/>
            <a:ext cx="0" cy="2260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流程图: 过程 46"/>
          <p:cNvSpPr/>
          <p:nvPr/>
        </p:nvSpPr>
        <p:spPr>
          <a:xfrm>
            <a:off x="7398385" y="3671570"/>
            <a:ext cx="3744595" cy="1043940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bg1"/>
                </a:solidFill>
              </a:rPr>
              <a:t>输出</a:t>
            </a:r>
            <a:r>
              <a:rPr lang="en-US" altLang="zh-CN" sz="1400">
                <a:solidFill>
                  <a:schemeClr val="bg1"/>
                </a:solidFill>
              </a:rPr>
              <a:t>track_table.csv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current_situation.csv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decoded_multitime.csv</a:t>
            </a:r>
          </a:p>
          <a:p>
            <a:pPr algn="ctr"/>
            <a:r>
              <a:rPr lang="en-US" altLang="zh-CN" sz="1400">
                <a:solidFill>
                  <a:schemeClr val="bg1"/>
                </a:solidFill>
              </a:rPr>
              <a:t>states.db (</a:t>
            </a:r>
            <a:r>
              <a:rPr lang="zh-CN" altLang="en-US" sz="1400">
                <a:solidFill>
                  <a:schemeClr val="bg1"/>
                </a:solidFill>
              </a:rPr>
              <a:t>选做) 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26" grpId="0"/>
      <p:bldP spid="26" grpId="1"/>
      <p:bldP spid="27" grpId="0" animBg="1"/>
      <p:bldP spid="27" grpId="1" animBg="1"/>
      <p:bldP spid="29" grpId="0" animBg="1"/>
      <p:bldP spid="29" grpId="1" animBg="1"/>
      <p:bldP spid="47" grpId="0" animBg="1"/>
      <p:bldP spid="47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/>
          <p:cNvGrpSpPr/>
          <p:nvPr/>
        </p:nvGrpSpPr>
        <p:grpSpPr>
          <a:xfrm>
            <a:off x="335360" y="937954"/>
            <a:ext cx="11249466" cy="398888"/>
            <a:chOff x="934400" y="936575"/>
            <a:chExt cx="11249466" cy="398888"/>
          </a:xfrm>
        </p:grpSpPr>
        <p:sp>
          <p:nvSpPr>
            <p:cNvPr id="48" name="文本框 47"/>
            <p:cNvSpPr txBox="1"/>
            <p:nvPr/>
          </p:nvSpPr>
          <p:spPr>
            <a:xfrm>
              <a:off x="1065521" y="936575"/>
              <a:ext cx="111183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zh-CN" altLang="zh-CN" dirty="0"/>
                <a:t> 语义统一 → 质量检查 → 全链集成（M4 · M5 · M6）</a:t>
              </a:r>
            </a:p>
          </p:txBody>
        </p:sp>
        <p:sp>
          <p:nvSpPr>
            <p:cNvPr id="49" name="矩形 48"/>
            <p:cNvSpPr/>
            <p:nvPr/>
          </p:nvSpPr>
          <p:spPr>
            <a:xfrm>
              <a:off x="934400" y="963997"/>
              <a:ext cx="45719" cy="371466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7" name="图片 6"/>
          <p:cNvPicPr/>
          <p:nvPr/>
        </p:nvPicPr>
        <p:blipFill>
          <a:blip r:embed="rId3"/>
          <a:srcRect t="32901" r="31800"/>
          <a:stretch>
            <a:fillRect/>
          </a:stretch>
        </p:blipFill>
        <p:spPr>
          <a:xfrm>
            <a:off x="6960375" y="1125410"/>
            <a:ext cx="4772637" cy="835159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260916" y="1370038"/>
            <a:ext cx="6347264" cy="4947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1" i="0" dirty="0">
                <a:solidFill>
                  <a:schemeClr val="tx1"/>
                </a:solidFill>
                <a:effectLst/>
                <a:latin typeface="+mn-lt"/>
              </a:rPr>
              <a:t>M4 语义统一</a:t>
            </a:r>
            <a:endParaRPr lang="en-US" altLang="zh-CN" sz="1800" b="1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800" b="0" i="0" dirty="0">
                <a:solidFill>
                  <a:schemeClr val="tx1"/>
                </a:solidFill>
                <a:effectLst/>
                <a:latin typeface="+mn-lt"/>
              </a:rPr>
              <a:t>AI</a:t>
            </a:r>
            <a:r>
              <a:rPr lang="zh-CN" altLang="en-US" sz="1800" b="0" i="0" dirty="0">
                <a:solidFill>
                  <a:schemeClr val="tx1"/>
                </a:solidFill>
                <a:effectLst/>
                <a:latin typeface="+mn-lt"/>
              </a:rPr>
              <a:t>候选</a:t>
            </a: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：OpenSky(17) + TeachingLink(19) </a:t>
            </a:r>
            <a:endParaRPr lang="en-US" altLang="zh-C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lvl="0" indent="-342900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人工核验（</a:t>
            </a:r>
            <a:r>
              <a:rPr lang="zh-CN" altLang="zh-CN" dirty="0"/>
              <a:t>位置有效、时间有效和异常标志等质量字段存在未确定项</a:t>
            </a: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）</a:t>
            </a: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输出：34条正式规则</a:t>
            </a:r>
            <a:endParaRPr lang="en-US" altLang="zh-C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1" i="0" dirty="0">
                <a:solidFill>
                  <a:schemeClr val="tx1"/>
                </a:solidFill>
                <a:effectLst/>
                <a:latin typeface="+mn-lt"/>
              </a:rPr>
              <a:t>M5 质量检查</a:t>
            </a:r>
            <a:endParaRPr lang="zh-CN" altLang="zh-CN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四类必检：缺失 / 延迟(&gt;60s) / 重复/ 越界(0-360)</a:t>
            </a: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逐条 + 全局判断 → 5条告警（1 HIGH + 4 MEDIUM）</a:t>
            </a:r>
          </a:p>
          <a:p>
            <a:pPr marL="0" marR="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输出：ERROR(1) / WARNING(4) / NORMAL(1)</a:t>
            </a:r>
          </a:p>
          <a:p>
            <a:pPr marL="0" marR="0" lvl="0" indent="-342900"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1" i="0" dirty="0">
                <a:solidFill>
                  <a:schemeClr val="tx1"/>
                </a:solidFill>
                <a:effectLst/>
                <a:latin typeface="+mn-lt"/>
              </a:rPr>
              <a:t>M6 全链串联</a:t>
            </a:r>
            <a:endParaRPr lang="en-US" altLang="zh-CN" sz="1800" b="1" i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lvl="0" indent="-342900"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zh-CN" sz="1800" b="0" i="0" dirty="0">
                <a:solidFill>
                  <a:schemeClr val="tx1"/>
                </a:solidFill>
                <a:effectLst/>
                <a:latin typeface="+mn-lt"/>
              </a:rPr>
              <a:t>入口：run_all.py 顺序执行 M2→M5</a:t>
            </a:r>
            <a:endParaRPr lang="zh-CN" altLang="zh-CN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17" name="图片 16"/>
          <p:cNvPicPr/>
          <p:nvPr/>
        </p:nvPicPr>
        <p:blipFill>
          <a:blip r:embed="rId4"/>
          <a:srcRect l="2517" t="9664" b="5955"/>
          <a:stretch>
            <a:fillRect/>
          </a:stretch>
        </p:blipFill>
        <p:spPr>
          <a:xfrm>
            <a:off x="6929259" y="2689960"/>
            <a:ext cx="4423539" cy="1784594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4910" y="4537938"/>
            <a:ext cx="3886400" cy="1187511"/>
          </a:xfrm>
          <a:prstGeom prst="rect">
            <a:avLst/>
          </a:prstGeom>
        </p:spPr>
      </p:pic>
      <p:sp>
        <p:nvSpPr>
          <p:cNvPr id="21" name="文本框 20"/>
          <p:cNvSpPr txBox="1"/>
          <p:nvPr/>
        </p:nvSpPr>
        <p:spPr>
          <a:xfrm>
            <a:off x="5311347" y="5914471"/>
            <a:ext cx="67650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</a:rPr>
              <a:t>OpenSky状态数组→ 字段解析与回退→ 发送方内部记录→ 41字节帧封装→ 模拟传输→ 接收校验与解码</a:t>
            </a:r>
            <a:r>
              <a:rPr lang="zh-CN" altLang="en-US" sz="1200" dirty="0"/>
              <a:t>→</a:t>
            </a:r>
            <a:r>
              <a:rPr lang="zh-CN" altLang="en-US" sz="1200" dirty="0">
                <a:solidFill>
                  <a:schemeClr val="accent1"/>
                </a:solidFill>
              </a:rPr>
              <a:t>CSV/SQLite存储→ 航迹与当前态势</a:t>
            </a:r>
          </a:p>
          <a:p>
            <a:r>
              <a:rPr lang="zh-CN" altLang="en-US" sz="1200" dirty="0">
                <a:solidFill>
                  <a:schemeClr val="accent2">
                    <a:lumMod val="75000"/>
                  </a:schemeClr>
                </a:solidFill>
              </a:rPr>
              <a:t>双来源语义映射→ 统一态势消息</a:t>
            </a:r>
            <a:r>
              <a:rPr lang="zh-CN" altLang="en-US" sz="1200" dirty="0"/>
              <a:t>→ 一致性检查→ 告警与质量态势</a:t>
            </a:r>
          </a:p>
        </p:txBody>
      </p:sp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rcRect t="-1224" r="39810"/>
          <a:stretch>
            <a:fillRect/>
          </a:stretch>
        </p:blipFill>
        <p:spPr>
          <a:xfrm>
            <a:off x="99695" y="1363345"/>
            <a:ext cx="5507355" cy="8159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79425" y="694055"/>
            <a:ext cx="5058410" cy="5454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1. M2 </a:t>
            </a:r>
            <a:r>
              <a:rPr lang="zh-CN" altLang="en-US" sz="1600"/>
              <a:t>编解码：下图为</a:t>
            </a:r>
            <a:r>
              <a:rPr lang="en-US" altLang="zh-CN" sz="1600"/>
              <a:t>decoded_partner_states.csv</a:t>
            </a:r>
            <a:r>
              <a:rPr lang="zh-CN" altLang="en-US" sz="1600"/>
              <a:t>，展示二进制帧解码后的结构化结果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l="51182"/>
          <a:stretch>
            <a:fillRect/>
          </a:stretch>
        </p:blipFill>
        <p:spPr>
          <a:xfrm>
            <a:off x="119380" y="2303145"/>
            <a:ext cx="5487670" cy="90487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135" y="4149090"/>
            <a:ext cx="6449695" cy="152654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391160" y="3547745"/>
            <a:ext cx="5175250" cy="3886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2. M2 </a:t>
            </a:r>
            <a:r>
              <a:rPr lang="zh-CN" altLang="en-US" sz="1600"/>
              <a:t>校验：下图为</a:t>
            </a:r>
            <a:r>
              <a:rPr lang="en-US" altLang="zh-CN" sz="1600"/>
              <a:t>validation_log.csv</a:t>
            </a:r>
            <a:r>
              <a:rPr lang="zh-CN" altLang="en-US" sz="1600"/>
              <a:t>，展示异常帧/错误字段能被识别，不只是“正常跑通”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6004560" y="694055"/>
            <a:ext cx="1004633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600"/>
              <a:t>3. M3</a:t>
            </a:r>
            <a:r>
              <a:rPr lang="zh-CN" altLang="en-US" sz="1600"/>
              <a:t>航迹图与当前态势</a:t>
            </a:r>
          </a:p>
        </p:txBody>
      </p:sp>
      <p:pic>
        <p:nvPicPr>
          <p:cNvPr id="9" name="图片 8" descr="m3_trajector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3655" y="1038860"/>
            <a:ext cx="5025390" cy="16256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1660" y="2924810"/>
            <a:ext cx="6564630" cy="5334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714490" y="3458210"/>
            <a:ext cx="4458970" cy="3740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 sz="1600" i="1"/>
              <a:t>current_situation.csv</a:t>
            </a:r>
            <a:r>
              <a:rPr lang="zh-CN" altLang="en-US" sz="1600" i="1"/>
              <a:t>：3 个目标的最新态势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6600190" y="3933190"/>
            <a:ext cx="3851910" cy="30861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4. M4</a:t>
            </a:r>
            <a:r>
              <a:rPr lang="zh-CN" altLang="en-US" sz="1600"/>
              <a:t>映射规则表（</a:t>
            </a:r>
            <a:r>
              <a:rPr lang="en-US" altLang="zh-CN" sz="1600"/>
              <a:t>17*2=34</a:t>
            </a:r>
            <a:r>
              <a:rPr lang="zh-CN" altLang="en-US" sz="1600"/>
              <a:t>条）和结果</a:t>
            </a: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0505" y="4221480"/>
            <a:ext cx="5502275" cy="78740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767080" y="6237605"/>
            <a:ext cx="2623820" cy="35433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600"/>
              <a:t>5. M5</a:t>
            </a:r>
            <a:r>
              <a:rPr lang="zh-CN" altLang="en-US" sz="1600"/>
              <a:t>告警：</a:t>
            </a:r>
            <a:r>
              <a:rPr lang="en-US" altLang="zh-CN" sz="1600"/>
              <a:t>alert_log.csv</a:t>
            </a:r>
            <a:endParaRPr lang="zh-CN" altLang="en-US" sz="160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9"/>
          <a:srcRect r="10481"/>
          <a:stretch>
            <a:fillRect/>
          </a:stretch>
        </p:blipFill>
        <p:spPr>
          <a:xfrm>
            <a:off x="3418840" y="5793105"/>
            <a:ext cx="8728075" cy="99949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7845" y="5069205"/>
            <a:ext cx="4893945" cy="66357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2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4" grpId="0"/>
      <p:bldP spid="14" grpId="1"/>
      <p:bldP spid="7" grpId="0"/>
      <p:bldP spid="7" grpId="1"/>
      <p:bldP spid="13" grpId="0"/>
      <p:bldP spid="13" grpId="1"/>
      <p:bldP spid="15" grpId="0"/>
      <p:bldP spid="15" grpId="1"/>
      <p:bldP spid="17" grpId="0"/>
      <p:bldP spid="17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A7C47E6F-217F-F6BE-5BCB-21984D62CC26}"/>
              </a:ext>
            </a:extLst>
          </p:cNvPr>
          <p:cNvGrpSpPr/>
          <p:nvPr/>
        </p:nvGrpSpPr>
        <p:grpSpPr>
          <a:xfrm>
            <a:off x="339694" y="3567292"/>
            <a:ext cx="4543450" cy="2584644"/>
            <a:chOff x="676567" y="1626982"/>
            <a:chExt cx="6787487" cy="15090543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FBFA2BA1-185D-8755-8647-82D55C2A33B7}"/>
                </a:ext>
              </a:extLst>
            </p:cNvPr>
            <p:cNvSpPr txBox="1"/>
            <p:nvPr/>
          </p:nvSpPr>
          <p:spPr>
            <a:xfrm>
              <a:off x="676567" y="12261185"/>
              <a:ext cx="6787487" cy="44563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4800" spc="600" dirty="0">
                  <a:solidFill>
                    <a:schemeClr val="bg1"/>
                  </a:solidFill>
                  <a:cs typeface="+mn-ea"/>
                  <a:sym typeface="+mn-lt"/>
                </a:rPr>
                <a:t>毕业论文答板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6CAA74D-9F8B-C8AB-281A-6BE13005E74D}"/>
                </a:ext>
              </a:extLst>
            </p:cNvPr>
            <p:cNvSpPr txBox="1"/>
            <p:nvPr/>
          </p:nvSpPr>
          <p:spPr>
            <a:xfrm>
              <a:off x="980119" y="3195224"/>
              <a:ext cx="5089078" cy="278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spc="600" dirty="0">
                  <a:solidFill>
                    <a:schemeClr val="bg1"/>
                  </a:solidFill>
                  <a:cs typeface="+mn-ea"/>
                  <a:sym typeface="+mn-lt"/>
                </a:rPr>
                <a:t>Graduation thesis defense template</a:t>
              </a:r>
              <a:endParaRPr lang="zh-CN" altLang="en-US" sz="1400" spc="6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A99277E-D160-9F25-081B-01CE99CE5E28}"/>
                </a:ext>
              </a:extLst>
            </p:cNvPr>
            <p:cNvSpPr/>
            <p:nvPr/>
          </p:nvSpPr>
          <p:spPr>
            <a:xfrm>
              <a:off x="699206" y="1626982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accent1"/>
            </a:solidFill>
            <a:ln>
              <a:noFill/>
            </a:ln>
            <a:effectLst>
              <a:outerShdw blurRad="304800" dist="127000" dir="2700000" algn="tl" rotWithShape="0">
                <a:schemeClr val="accent1">
                  <a:lumMod val="50000"/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6534D231-2262-E5D0-C8F8-0A4929FF95E4}"/>
                </a:ext>
              </a:extLst>
            </p:cNvPr>
            <p:cNvSpPr/>
            <p:nvPr/>
          </p:nvSpPr>
          <p:spPr>
            <a:xfrm>
              <a:off x="699206" y="1756133"/>
              <a:ext cx="5234666" cy="4237676"/>
            </a:xfrm>
            <a:prstGeom prst="roundRect">
              <a:avLst>
                <a:gd name="adj" fmla="val 3675"/>
              </a:avLst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12E00B0F-5625-F592-22DC-ECADDAAED12F}"/>
                </a:ext>
              </a:extLst>
            </p:cNvPr>
            <p:cNvSpPr txBox="1"/>
            <p:nvPr/>
          </p:nvSpPr>
          <p:spPr>
            <a:xfrm>
              <a:off x="1087448" y="3163082"/>
              <a:ext cx="1040928" cy="255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1" name="文本框 82"/>
          <p:cNvSpPr txBox="1"/>
          <p:nvPr/>
        </p:nvSpPr>
        <p:spPr>
          <a:xfrm>
            <a:off x="1127172" y="836769"/>
            <a:ext cx="1735981" cy="40011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zh-CN" altLang="en-US" sz="2000" b="1" dirty="0">
                <a:solidFill>
                  <a:srgbClr val="4472C4"/>
                </a:solidFill>
                <a:cs typeface="+mn-ea"/>
                <a:sym typeface="+mn-lt"/>
              </a:rPr>
              <a:t>遇到的问题</a:t>
            </a:r>
          </a:p>
        </p:txBody>
      </p:sp>
      <p:sp>
        <p:nvSpPr>
          <p:cNvPr id="35" name="iconfont-1192-742827"/>
          <p:cNvSpPr/>
          <p:nvPr/>
        </p:nvSpPr>
        <p:spPr>
          <a:xfrm>
            <a:off x="771884" y="907041"/>
            <a:ext cx="267336" cy="268131"/>
          </a:xfrm>
          <a:custGeom>
            <a:avLst/>
            <a:gdLst>
              <a:gd name="T0" fmla="*/ 8264 w 11898"/>
              <a:gd name="T1" fmla="*/ 11934 h 11934"/>
              <a:gd name="T2" fmla="*/ 6604 w 11898"/>
              <a:gd name="T3" fmla="*/ 7046 h 11934"/>
              <a:gd name="T4" fmla="*/ 7084 w 11898"/>
              <a:gd name="T5" fmla="*/ 6641 h 11934"/>
              <a:gd name="T6" fmla="*/ 11898 w 11898"/>
              <a:gd name="T7" fmla="*/ 8301 h 11934"/>
              <a:gd name="T8" fmla="*/ 10238 w 11898"/>
              <a:gd name="T9" fmla="*/ 11934 h 11934"/>
              <a:gd name="T10" fmla="*/ 7323 w 11898"/>
              <a:gd name="T11" fmla="*/ 10274 h 11934"/>
              <a:gd name="T12" fmla="*/ 10219 w 11898"/>
              <a:gd name="T13" fmla="*/ 11197 h 11934"/>
              <a:gd name="T14" fmla="*/ 11142 w 11898"/>
              <a:gd name="T15" fmla="*/ 8301 h 11934"/>
              <a:gd name="T16" fmla="*/ 7323 w 11898"/>
              <a:gd name="T17" fmla="*/ 7378 h 11934"/>
              <a:gd name="T18" fmla="*/ 1716 w 11898"/>
              <a:gd name="T19" fmla="*/ 11934 h 11934"/>
              <a:gd name="T20" fmla="*/ 0 w 11898"/>
              <a:gd name="T21" fmla="*/ 8374 h 11934"/>
              <a:gd name="T22" fmla="*/ 4815 w 11898"/>
              <a:gd name="T23" fmla="*/ 6659 h 11934"/>
              <a:gd name="T24" fmla="*/ 5294 w 11898"/>
              <a:gd name="T25" fmla="*/ 7065 h 11934"/>
              <a:gd name="T26" fmla="*/ 3560 w 11898"/>
              <a:gd name="T27" fmla="*/ 11934 h 11934"/>
              <a:gd name="T28" fmla="*/ 738 w 11898"/>
              <a:gd name="T29" fmla="*/ 8356 h 11934"/>
              <a:gd name="T30" fmla="*/ 1716 w 11898"/>
              <a:gd name="T31" fmla="*/ 11178 h 11934"/>
              <a:gd name="T32" fmla="*/ 4538 w 11898"/>
              <a:gd name="T33" fmla="*/ 10201 h 11934"/>
              <a:gd name="T34" fmla="*/ 1716 w 11898"/>
              <a:gd name="T35" fmla="*/ 7378 h 11934"/>
              <a:gd name="T36" fmla="*/ 1624 w 11898"/>
              <a:gd name="T37" fmla="*/ 5312 h 11934"/>
              <a:gd name="T38" fmla="*/ 0 w 11898"/>
              <a:gd name="T39" fmla="*/ 1642 h 11934"/>
              <a:gd name="T40" fmla="*/ 3671 w 11898"/>
              <a:gd name="T41" fmla="*/ 18 h 11934"/>
              <a:gd name="T42" fmla="*/ 5294 w 11898"/>
              <a:gd name="T43" fmla="*/ 4907 h 11934"/>
              <a:gd name="T44" fmla="*/ 4815 w 11898"/>
              <a:gd name="T45" fmla="*/ 5312 h 11934"/>
              <a:gd name="T46" fmla="*/ 720 w 11898"/>
              <a:gd name="T47" fmla="*/ 1623 h 11934"/>
              <a:gd name="T48" fmla="*/ 1605 w 11898"/>
              <a:gd name="T49" fmla="*/ 4575 h 11934"/>
              <a:gd name="T50" fmla="*/ 4538 w 11898"/>
              <a:gd name="T51" fmla="*/ 1642 h 11934"/>
              <a:gd name="T52" fmla="*/ 1605 w 11898"/>
              <a:gd name="T53" fmla="*/ 756 h 11934"/>
              <a:gd name="T54" fmla="*/ 10219 w 11898"/>
              <a:gd name="T55" fmla="*/ 5312 h 11934"/>
              <a:gd name="T56" fmla="*/ 6899 w 11898"/>
              <a:gd name="T57" fmla="*/ 5275 h 11934"/>
              <a:gd name="T58" fmla="*/ 6586 w 11898"/>
              <a:gd name="T59" fmla="*/ 1679 h 11934"/>
              <a:gd name="T60" fmla="*/ 10219 w 11898"/>
              <a:gd name="T61" fmla="*/ 0 h 11934"/>
              <a:gd name="T62" fmla="*/ 11898 w 11898"/>
              <a:gd name="T63" fmla="*/ 3634 h 11934"/>
              <a:gd name="T64" fmla="*/ 7323 w 11898"/>
              <a:gd name="T65" fmla="*/ 4574 h 11934"/>
              <a:gd name="T66" fmla="*/ 11142 w 11898"/>
              <a:gd name="T67" fmla="*/ 3634 h 11934"/>
              <a:gd name="T68" fmla="*/ 10201 w 11898"/>
              <a:gd name="T69" fmla="*/ 738 h 11934"/>
              <a:gd name="T70" fmla="*/ 7305 w 11898"/>
              <a:gd name="T71" fmla="*/ 1678 h 11934"/>
              <a:gd name="T72" fmla="*/ 7323 w 11898"/>
              <a:gd name="T73" fmla="*/ 4574 h 119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1898" h="11934">
                <a:moveTo>
                  <a:pt x="10238" y="11934"/>
                </a:moveTo>
                <a:lnTo>
                  <a:pt x="8264" y="11934"/>
                </a:lnTo>
                <a:cubicBezTo>
                  <a:pt x="7342" y="11934"/>
                  <a:pt x="6604" y="11197"/>
                  <a:pt x="6604" y="10274"/>
                </a:cubicBezTo>
                <a:lnTo>
                  <a:pt x="6604" y="7046"/>
                </a:lnTo>
                <a:cubicBezTo>
                  <a:pt x="6604" y="6862"/>
                  <a:pt x="6733" y="6714"/>
                  <a:pt x="6918" y="6677"/>
                </a:cubicBezTo>
                <a:cubicBezTo>
                  <a:pt x="6973" y="6659"/>
                  <a:pt x="7028" y="6641"/>
                  <a:pt x="7084" y="6641"/>
                </a:cubicBezTo>
                <a:lnTo>
                  <a:pt x="10238" y="6641"/>
                </a:lnTo>
                <a:cubicBezTo>
                  <a:pt x="11160" y="6641"/>
                  <a:pt x="11898" y="7378"/>
                  <a:pt x="11898" y="8301"/>
                </a:cubicBezTo>
                <a:lnTo>
                  <a:pt x="11898" y="10274"/>
                </a:lnTo>
                <a:cubicBezTo>
                  <a:pt x="11879" y="11178"/>
                  <a:pt x="11142" y="11934"/>
                  <a:pt x="10238" y="11934"/>
                </a:cubicBezTo>
                <a:close/>
                <a:moveTo>
                  <a:pt x="7323" y="7378"/>
                </a:moveTo>
                <a:lnTo>
                  <a:pt x="7323" y="10274"/>
                </a:lnTo>
                <a:cubicBezTo>
                  <a:pt x="7323" y="10772"/>
                  <a:pt x="7729" y="11197"/>
                  <a:pt x="8246" y="11197"/>
                </a:cubicBezTo>
                <a:lnTo>
                  <a:pt x="10219" y="11197"/>
                </a:lnTo>
                <a:cubicBezTo>
                  <a:pt x="10717" y="11197"/>
                  <a:pt x="11142" y="10791"/>
                  <a:pt x="11142" y="10274"/>
                </a:cubicBezTo>
                <a:lnTo>
                  <a:pt x="11142" y="8301"/>
                </a:lnTo>
                <a:cubicBezTo>
                  <a:pt x="11142" y="7803"/>
                  <a:pt x="10736" y="7378"/>
                  <a:pt x="10219" y="7378"/>
                </a:cubicBezTo>
                <a:lnTo>
                  <a:pt x="7323" y="7378"/>
                </a:lnTo>
                <a:close/>
                <a:moveTo>
                  <a:pt x="3560" y="11934"/>
                </a:moveTo>
                <a:lnTo>
                  <a:pt x="1716" y="11934"/>
                </a:lnTo>
                <a:cubicBezTo>
                  <a:pt x="757" y="11934"/>
                  <a:pt x="0" y="11160"/>
                  <a:pt x="0" y="10219"/>
                </a:cubicBezTo>
                <a:lnTo>
                  <a:pt x="0" y="8374"/>
                </a:lnTo>
                <a:cubicBezTo>
                  <a:pt x="0" y="7415"/>
                  <a:pt x="775" y="6659"/>
                  <a:pt x="1716" y="6659"/>
                </a:cubicBezTo>
                <a:lnTo>
                  <a:pt x="4815" y="6659"/>
                </a:lnTo>
                <a:cubicBezTo>
                  <a:pt x="4870" y="6659"/>
                  <a:pt x="4925" y="6677"/>
                  <a:pt x="4981" y="6696"/>
                </a:cubicBezTo>
                <a:cubicBezTo>
                  <a:pt x="5165" y="6714"/>
                  <a:pt x="5294" y="6880"/>
                  <a:pt x="5294" y="7065"/>
                </a:cubicBezTo>
                <a:lnTo>
                  <a:pt x="5294" y="10237"/>
                </a:lnTo>
                <a:cubicBezTo>
                  <a:pt x="5294" y="11160"/>
                  <a:pt x="4519" y="11934"/>
                  <a:pt x="3560" y="11934"/>
                </a:cubicBezTo>
                <a:close/>
                <a:moveTo>
                  <a:pt x="1716" y="7378"/>
                </a:moveTo>
                <a:cubicBezTo>
                  <a:pt x="1181" y="7378"/>
                  <a:pt x="738" y="7821"/>
                  <a:pt x="738" y="8356"/>
                </a:cubicBezTo>
                <a:lnTo>
                  <a:pt x="738" y="10201"/>
                </a:lnTo>
                <a:cubicBezTo>
                  <a:pt x="738" y="10754"/>
                  <a:pt x="1181" y="11178"/>
                  <a:pt x="1716" y="11178"/>
                </a:cubicBezTo>
                <a:lnTo>
                  <a:pt x="3560" y="11178"/>
                </a:lnTo>
                <a:cubicBezTo>
                  <a:pt x="4095" y="11178"/>
                  <a:pt x="4538" y="10736"/>
                  <a:pt x="4538" y="10201"/>
                </a:cubicBezTo>
                <a:lnTo>
                  <a:pt x="4538" y="7378"/>
                </a:lnTo>
                <a:lnTo>
                  <a:pt x="1716" y="7378"/>
                </a:lnTo>
                <a:close/>
                <a:moveTo>
                  <a:pt x="4815" y="5312"/>
                </a:moveTo>
                <a:lnTo>
                  <a:pt x="1624" y="5312"/>
                </a:lnTo>
                <a:cubicBezTo>
                  <a:pt x="720" y="5312"/>
                  <a:pt x="0" y="4593"/>
                  <a:pt x="0" y="3689"/>
                </a:cubicBezTo>
                <a:lnTo>
                  <a:pt x="0" y="1642"/>
                </a:lnTo>
                <a:cubicBezTo>
                  <a:pt x="0" y="738"/>
                  <a:pt x="720" y="18"/>
                  <a:pt x="1624" y="18"/>
                </a:cubicBezTo>
                <a:lnTo>
                  <a:pt x="3671" y="18"/>
                </a:lnTo>
                <a:cubicBezTo>
                  <a:pt x="4575" y="18"/>
                  <a:pt x="5294" y="738"/>
                  <a:pt x="5294" y="1642"/>
                </a:cubicBezTo>
                <a:lnTo>
                  <a:pt x="5294" y="4907"/>
                </a:lnTo>
                <a:cubicBezTo>
                  <a:pt x="5294" y="5091"/>
                  <a:pt x="5165" y="5239"/>
                  <a:pt x="4981" y="5276"/>
                </a:cubicBezTo>
                <a:cubicBezTo>
                  <a:pt x="4925" y="5294"/>
                  <a:pt x="4870" y="5312"/>
                  <a:pt x="4815" y="5312"/>
                </a:cubicBezTo>
                <a:close/>
                <a:moveTo>
                  <a:pt x="1605" y="738"/>
                </a:moveTo>
                <a:cubicBezTo>
                  <a:pt x="1125" y="738"/>
                  <a:pt x="720" y="1144"/>
                  <a:pt x="720" y="1623"/>
                </a:cubicBezTo>
                <a:lnTo>
                  <a:pt x="720" y="3689"/>
                </a:lnTo>
                <a:cubicBezTo>
                  <a:pt x="720" y="4169"/>
                  <a:pt x="1125" y="4575"/>
                  <a:pt x="1605" y="4575"/>
                </a:cubicBezTo>
                <a:lnTo>
                  <a:pt x="4538" y="4575"/>
                </a:lnTo>
                <a:lnTo>
                  <a:pt x="4538" y="1642"/>
                </a:lnTo>
                <a:cubicBezTo>
                  <a:pt x="4538" y="1162"/>
                  <a:pt x="4132" y="756"/>
                  <a:pt x="3653" y="756"/>
                </a:cubicBezTo>
                <a:lnTo>
                  <a:pt x="1605" y="756"/>
                </a:lnTo>
                <a:lnTo>
                  <a:pt x="1605" y="738"/>
                </a:lnTo>
                <a:close/>
                <a:moveTo>
                  <a:pt x="10219" y="5312"/>
                </a:moveTo>
                <a:lnTo>
                  <a:pt x="7065" y="5312"/>
                </a:lnTo>
                <a:cubicBezTo>
                  <a:pt x="7010" y="5312"/>
                  <a:pt x="6954" y="5294"/>
                  <a:pt x="6899" y="5275"/>
                </a:cubicBezTo>
                <a:cubicBezTo>
                  <a:pt x="6715" y="5257"/>
                  <a:pt x="6586" y="5091"/>
                  <a:pt x="6586" y="4907"/>
                </a:cubicBezTo>
                <a:lnTo>
                  <a:pt x="6586" y="1679"/>
                </a:lnTo>
                <a:cubicBezTo>
                  <a:pt x="6586" y="756"/>
                  <a:pt x="7342" y="0"/>
                  <a:pt x="8264" y="0"/>
                </a:cubicBezTo>
                <a:lnTo>
                  <a:pt x="10219" y="0"/>
                </a:lnTo>
                <a:cubicBezTo>
                  <a:pt x="11142" y="0"/>
                  <a:pt x="11898" y="756"/>
                  <a:pt x="11898" y="1679"/>
                </a:cubicBezTo>
                <a:lnTo>
                  <a:pt x="11898" y="3634"/>
                </a:lnTo>
                <a:cubicBezTo>
                  <a:pt x="11880" y="4556"/>
                  <a:pt x="11142" y="5312"/>
                  <a:pt x="10219" y="5312"/>
                </a:cubicBezTo>
                <a:close/>
                <a:moveTo>
                  <a:pt x="7323" y="4574"/>
                </a:moveTo>
                <a:lnTo>
                  <a:pt x="10201" y="4574"/>
                </a:lnTo>
                <a:cubicBezTo>
                  <a:pt x="10717" y="4574"/>
                  <a:pt x="11142" y="4150"/>
                  <a:pt x="11142" y="3634"/>
                </a:cubicBezTo>
                <a:lnTo>
                  <a:pt x="11142" y="1678"/>
                </a:lnTo>
                <a:cubicBezTo>
                  <a:pt x="11142" y="1162"/>
                  <a:pt x="10717" y="738"/>
                  <a:pt x="10201" y="738"/>
                </a:cubicBezTo>
                <a:lnTo>
                  <a:pt x="8246" y="738"/>
                </a:lnTo>
                <a:cubicBezTo>
                  <a:pt x="7729" y="738"/>
                  <a:pt x="7305" y="1162"/>
                  <a:pt x="7305" y="1678"/>
                </a:cubicBezTo>
                <a:lnTo>
                  <a:pt x="7305" y="4574"/>
                </a:lnTo>
                <a:lnTo>
                  <a:pt x="7323" y="4574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cs typeface="+mn-ea"/>
              <a:sym typeface="+mn-lt"/>
            </a:endParaRPr>
          </a:p>
        </p:txBody>
      </p:sp>
      <p:sp>
        <p:nvSpPr>
          <p:cNvPr id="38" name="文本框 83"/>
          <p:cNvSpPr txBox="1"/>
          <p:nvPr/>
        </p:nvSpPr>
        <p:spPr>
          <a:xfrm>
            <a:off x="7161544" y="725668"/>
            <a:ext cx="4883690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b="1" dirty="0">
                <a:solidFill>
                  <a:schemeClr val="accent1"/>
                </a:solidFill>
              </a:rPr>
              <a:t>2</a:t>
            </a:r>
            <a:r>
              <a:rPr lang="zh-CN" altLang="en-US" sz="1600" b="1" dirty="0">
                <a:solidFill>
                  <a:schemeClr val="accent1"/>
                </a:solidFill>
              </a:rPr>
              <a:t>、</a:t>
            </a:r>
            <a:r>
              <a:rPr lang="zh-CN" altLang="zh-CN" sz="1600" b="1" dirty="0">
                <a:solidFill>
                  <a:schemeClr val="accent1"/>
                </a:solidFill>
              </a:rPr>
              <a:t>解码字典返回自带error_list错误字段，写入 CSV 时，字段不在表头，程序抛出异常</a:t>
            </a:r>
            <a:endParaRPr lang="en-US" altLang="zh-CN" sz="1600" b="1" dirty="0">
              <a:solidFill>
                <a:schemeClr val="accent1"/>
              </a:solidFill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zh-CN" altLang="en-US" sz="1400" dirty="0"/>
              <a:t>→</a:t>
            </a:r>
            <a:r>
              <a:rPr lang="zh-CN" altLang="zh-CN" sz="1400" dirty="0"/>
              <a:t>csv.DictWriter设置参数 extrasaction="ignore"，自动忽略字典里未定义的多余字段。</a:t>
            </a:r>
            <a:endParaRPr lang="en-US" altLang="zh-CN" sz="14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en-US" altLang="zh-CN" sz="14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b="1" dirty="0">
                <a:solidFill>
                  <a:schemeClr val="accent1"/>
                </a:solidFill>
              </a:rPr>
              <a:t>3</a:t>
            </a:r>
            <a:r>
              <a:rPr lang="zh-CN" altLang="en-US" sz="1600" b="1" dirty="0">
                <a:solidFill>
                  <a:schemeClr val="accent1"/>
                </a:solidFill>
              </a:rPr>
              <a:t>、</a:t>
            </a:r>
            <a:r>
              <a:rPr lang="zh-CN" altLang="zh-CN" sz="1600" b="1" dirty="0">
                <a:solidFill>
                  <a:schemeClr val="accent1"/>
                </a:solidFill>
              </a:rPr>
              <a:t>timestamp 为空的记录混入分组，排序逻辑错乱→</a:t>
            </a:r>
            <a:r>
              <a:rPr lang="zh-CN" altLang="zh-CN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增加前置过滤，时间戳为空的记录不进入 build_tracks 航迹构建。</a:t>
            </a:r>
            <a:endParaRPr lang="en-US" altLang="zh-CN" sz="16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3C08CE-363B-334D-A82A-0AB5C306A6AC}"/>
              </a:ext>
            </a:extLst>
          </p:cNvPr>
          <p:cNvSpPr txBox="1"/>
          <p:nvPr/>
        </p:nvSpPr>
        <p:spPr>
          <a:xfrm>
            <a:off x="191344" y="2745433"/>
            <a:ext cx="6094902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zh-CN" sz="1400" dirty="0"/>
              <a:t>生成每条记录的往返比较行</a:t>
            </a:r>
          </a:p>
          <a:p>
            <a:pPr>
              <a:lnSpc>
                <a:spcPct val="150000"/>
              </a:lnSpc>
              <a:buNone/>
            </a:pPr>
            <a:r>
              <a:rPr lang="zh-CN" altLang="zh-CN" sz="1400" dirty="0"/>
              <a:t>核心函数：</a:t>
            </a:r>
            <a:r>
              <a:rPr lang="zh-CN" altLang="zh-CN" sz="1400" dirty="0">
                <a:highlight>
                  <a:srgbClr val="FFFF00"/>
                </a:highlight>
              </a:rPr>
              <a:t>_roundtrip_rows()</a:t>
            </a:r>
            <a:br>
              <a:rPr lang="en-US" altLang="zh-CN" sz="1400" dirty="0"/>
            </a:br>
            <a:endParaRPr lang="zh-CN" altLang="zh-CN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6AE2642-4414-5B06-D2CB-245177328EB7}"/>
              </a:ext>
            </a:extLst>
          </p:cNvPr>
          <p:cNvSpPr txBox="1"/>
          <p:nvPr/>
        </p:nvSpPr>
        <p:spPr>
          <a:xfrm>
            <a:off x="307817" y="3608510"/>
            <a:ext cx="42063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zh-CN" sz="1400" dirty="0">
                <a:latin typeface="+mn-lt"/>
              </a:rPr>
              <a:t>绝对误差 = |编码前源值 - 解码后恢复值|</a:t>
            </a:r>
            <a:endParaRPr lang="zh-CN" altLang="zh-CN" sz="1400" dirty="0">
              <a:latin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CA1E4B2-94D8-EAFF-556C-B097DA032FD3}"/>
              </a:ext>
            </a:extLst>
          </p:cNvPr>
          <p:cNvSpPr txBox="1"/>
          <p:nvPr/>
        </p:nvSpPr>
        <p:spPr>
          <a:xfrm>
            <a:off x="330665" y="3873646"/>
            <a:ext cx="60949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绝对误差 &lt;= 一个量化单位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A67CD3AF-7EAC-B5F4-2DD7-9D7BFD70D37D}"/>
              </a:ext>
            </a:extLst>
          </p:cNvPr>
          <p:cNvSpPr txBox="1"/>
          <p:nvPr/>
        </p:nvSpPr>
        <p:spPr>
          <a:xfrm>
            <a:off x="-25507" y="8376595"/>
            <a:ext cx="6094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dirty="0"/>
              <a:t>最终生成：roundtrip_report.csv</a:t>
            </a:r>
          </a:p>
        </p:txBody>
      </p:sp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C8A4EE4A-3F80-C7FF-C1F0-D2C775C49B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077674"/>
              </p:ext>
            </p:extLst>
          </p:nvPr>
        </p:nvGraphicFramePr>
        <p:xfrm>
          <a:off x="4250332" y="1415453"/>
          <a:ext cx="2861945" cy="29201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4040">
                  <a:extLst>
                    <a:ext uri="{9D8B030D-6E8A-4147-A177-3AD203B41FA5}">
                      <a16:colId xmlns:a16="http://schemas.microsoft.com/office/drawing/2014/main" val="2699923691"/>
                    </a:ext>
                  </a:extLst>
                </a:gridCol>
                <a:gridCol w="1281697">
                  <a:extLst>
                    <a:ext uri="{9D8B030D-6E8A-4147-A177-3AD203B41FA5}">
                      <a16:colId xmlns:a16="http://schemas.microsoft.com/office/drawing/2014/main" val="662521552"/>
                    </a:ext>
                  </a:extLst>
                </a:gridCol>
                <a:gridCol w="1046208">
                  <a:extLst>
                    <a:ext uri="{9D8B030D-6E8A-4147-A177-3AD203B41FA5}">
                      <a16:colId xmlns:a16="http://schemas.microsoft.com/office/drawing/2014/main" val="4012646000"/>
                    </a:ext>
                  </a:extLst>
                </a:gridCol>
              </a:tblGrid>
              <a:tr h="2409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字段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编码方式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容差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3605546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纬度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映射到 0～2²²-1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180/(2²²-1) 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8452159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经度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映射到 0～2²²-1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360/(2²²-1) 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711601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高度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1米一个整数单位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1 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9250968"/>
                  </a:ext>
                </a:extLst>
              </a:tr>
              <a:tr h="3944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0.1米/秒一个整数单位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0.1 m/s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6104145"/>
                  </a:ext>
                </a:extLst>
              </a:tr>
              <a:tr h="3944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航向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0.01度一个整数单位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0.01°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1731975"/>
                  </a:ext>
                </a:extLst>
              </a:tr>
              <a:tr h="4303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垂直速度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0.01米/秒一个整数单位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0.01 m/s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3028575"/>
                  </a:ext>
                </a:extLst>
              </a:tr>
              <a:tr h="3443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呼号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/>
                        <a:t>ASCII文本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100" dirty="0"/>
                        <a:t>必须完全相等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5382121"/>
                  </a:ext>
                </a:extLst>
              </a:tr>
            </a:tbl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6209DFAB-4FE1-0700-F147-B23F4506BECA}"/>
              </a:ext>
            </a:extLst>
          </p:cNvPr>
          <p:cNvSpPr txBox="1"/>
          <p:nvPr/>
        </p:nvSpPr>
        <p:spPr>
          <a:xfrm>
            <a:off x="263352" y="1759654"/>
            <a:ext cx="4295238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实验手册规定：</a:t>
            </a:r>
          </a:p>
          <a:p>
            <a:pPr>
              <a:buNone/>
            </a:pPr>
            <a:r>
              <a:rPr lang="zh-CN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有效字段的往返误差原则上不超过一个量化单位。</a:t>
            </a:r>
          </a:p>
          <a:p>
            <a:pPr>
              <a:buNone/>
            </a:pPr>
            <a:r>
              <a:rPr lang="zh-CN" altLang="zh-CN" sz="1400" dirty="0"/>
              <a:t>因此当前代码将“一个量化单位”作为容差。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764184E-D162-48B4-B22E-514B8355AFA8}"/>
              </a:ext>
            </a:extLst>
          </p:cNvPr>
          <p:cNvSpPr txBox="1"/>
          <p:nvPr/>
        </p:nvSpPr>
        <p:spPr>
          <a:xfrm>
            <a:off x="-21578" y="1408622"/>
            <a:ext cx="61175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altLang="zh-CN" sz="1600" b="1" dirty="0">
                <a:solidFill>
                  <a:schemeClr val="accent1"/>
                </a:solidFill>
              </a:rPr>
              <a:t>1.</a:t>
            </a:r>
            <a:r>
              <a:rPr lang="zh-CN" altLang="zh-CN" sz="1600" b="1" dirty="0">
                <a:solidFill>
                  <a:schemeClr val="accent1"/>
                </a:solidFill>
              </a:rPr>
              <a:t>定点编码 / 解码，会引入少量量化往返误差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D612B07-B090-CB0C-E4C0-FA394251FF76}"/>
              </a:ext>
            </a:extLst>
          </p:cNvPr>
          <p:cNvSpPr txBox="1"/>
          <p:nvPr/>
        </p:nvSpPr>
        <p:spPr>
          <a:xfrm>
            <a:off x="149758" y="4345812"/>
            <a:ext cx="64567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200" dirty="0"/>
              <a:t>最终生成：</a:t>
            </a:r>
            <a:r>
              <a:rPr lang="zh-CN" altLang="zh-CN" sz="1200" dirty="0">
                <a:highlight>
                  <a:srgbClr val="FFFF00"/>
                </a:highlight>
              </a:rPr>
              <a:t>roundtrip_report.csv</a:t>
            </a:r>
            <a:r>
              <a:rPr lang="en-US" altLang="zh-CN" sz="1200" dirty="0">
                <a:highlight>
                  <a:srgbClr val="FFFF00"/>
                </a:highlight>
              </a:rPr>
              <a:t>,</a:t>
            </a:r>
            <a:r>
              <a:rPr lang="zh-CN" altLang="en-US" sz="1200" dirty="0"/>
              <a:t>所有结果均符合条件</a:t>
            </a:r>
            <a:endParaRPr lang="zh-CN" altLang="zh-CN" sz="1200" dirty="0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9C49C6C2-17E5-B444-D047-00EDF05C9F1B}"/>
              </a:ext>
            </a:extLst>
          </p:cNvPr>
          <p:cNvPicPr>
            <a:picLocks/>
          </p:cNvPicPr>
          <p:nvPr/>
        </p:nvPicPr>
        <p:blipFill>
          <a:blip r:embed="rId3"/>
          <a:srcRect l="4104" t="4208" b="6293"/>
          <a:stretch>
            <a:fillRect/>
          </a:stretch>
        </p:blipFill>
        <p:spPr>
          <a:xfrm>
            <a:off x="329850" y="4630393"/>
            <a:ext cx="3534060" cy="2170603"/>
          </a:xfrm>
          <a:prstGeom prst="rect">
            <a:avLst/>
          </a:prstGeom>
        </p:spPr>
      </p:pic>
      <p:sp>
        <p:nvSpPr>
          <p:cNvPr id="28" name="矩形 27">
            <a:extLst>
              <a:ext uri="{FF2B5EF4-FFF2-40B4-BE49-F238E27FC236}">
                <a16:creationId xmlns:a16="http://schemas.microsoft.com/office/drawing/2014/main" id="{9935C459-583B-B6BE-55B9-100545C6772D}"/>
              </a:ext>
            </a:extLst>
          </p:cNvPr>
          <p:cNvSpPr/>
          <p:nvPr/>
        </p:nvSpPr>
        <p:spPr>
          <a:xfrm>
            <a:off x="3587439" y="4662214"/>
            <a:ext cx="269538" cy="22114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8A6637F-3259-02AA-FFFA-06BE604B3A47}"/>
              </a:ext>
            </a:extLst>
          </p:cNvPr>
          <p:cNvSpPr txBox="1"/>
          <p:nvPr/>
        </p:nvSpPr>
        <p:spPr>
          <a:xfrm>
            <a:off x="4151784" y="4589043"/>
            <a:ext cx="3638667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en-US" altLang="zh-CN" sz="1600" b="1" dirty="0">
                <a:solidFill>
                  <a:schemeClr val="accent1"/>
                </a:solidFill>
              </a:rPr>
              <a:t>4</a:t>
            </a:r>
            <a:r>
              <a:rPr lang="zh-CN" altLang="en-US" sz="1600" b="1" dirty="0">
                <a:solidFill>
                  <a:schemeClr val="accent1"/>
                </a:solidFill>
              </a:rPr>
              <a:t>、</a:t>
            </a:r>
            <a:r>
              <a:rPr lang="zh-CN" altLang="zh-CN" sz="1600" b="1" dirty="0">
                <a:solidFill>
                  <a:schemeClr val="accent1"/>
                </a:solidFill>
              </a:rPr>
              <a:t> CSV 读取布尔字段得到字符串"True"/"False"，直接int()转换抛出 ValueErro</a:t>
            </a:r>
            <a:r>
              <a:rPr lang="en-US" altLang="zh-CN" sz="1600" b="1" dirty="0">
                <a:solidFill>
                  <a:schemeClr val="accent1"/>
                </a:solidFill>
              </a:rPr>
              <a:t>r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zh-CN" altLang="zh-CN" sz="1600" dirty="0"/>
              <a:t>→增加布尔兼容逻辑，先转小写字符串判断文本内容，不再强制 int 转换。</a:t>
            </a:r>
            <a:endParaRPr lang="en-US" altLang="zh-CN" sz="1600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21366D07-6F19-CFD5-FE19-CD8B52600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5936" y="4554612"/>
            <a:ext cx="3378935" cy="1597889"/>
          </a:xfrm>
          <a:prstGeom prst="rect">
            <a:avLst/>
          </a:prstGeom>
        </p:spPr>
      </p:pic>
      <p:pic>
        <p:nvPicPr>
          <p:cNvPr id="48" name="图片 47">
            <a:extLst>
              <a:ext uri="{FF2B5EF4-FFF2-40B4-BE49-F238E27FC236}">
                <a16:creationId xmlns:a16="http://schemas.microsoft.com/office/drawing/2014/main" id="{04E2063E-F7E3-897F-E5D6-CE8218409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4097" y="2891284"/>
            <a:ext cx="3431097" cy="1344713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0" y="1"/>
            <a:ext cx="12192000" cy="711200"/>
            <a:chOff x="0" y="1"/>
            <a:chExt cx="12192000" cy="711200"/>
          </a:xfrm>
        </p:grpSpPr>
        <p:sp>
          <p:nvSpPr>
            <p:cNvPr id="40" name="矩形 39"/>
            <p:cNvSpPr/>
            <p:nvPr/>
          </p:nvSpPr>
          <p:spPr>
            <a:xfrm>
              <a:off x="0" y="1"/>
              <a:ext cx="12192000" cy="650874"/>
            </a:xfrm>
            <a:prstGeom prst="rect">
              <a:avLst/>
            </a:prstGeom>
            <a:solidFill>
              <a:srgbClr val="0E4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5320779" y="159473"/>
              <a:ext cx="6318336" cy="368300"/>
              <a:chOff x="4977879" y="299173"/>
              <a:chExt cx="6318336" cy="368300"/>
            </a:xfrm>
          </p:grpSpPr>
          <p:sp>
            <p:nvSpPr>
              <p:cNvPr id="44" name="文本框 43"/>
              <p:cNvSpPr txBox="1"/>
              <p:nvPr/>
            </p:nvSpPr>
            <p:spPr>
              <a:xfrm>
                <a:off x="522350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M1</a:t>
                </a:r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695098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M2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678461" y="299173"/>
                <a:ext cx="4965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M3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0405945" y="299173"/>
                <a:ext cx="890270" cy="368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  <a:latin typeface="思源黑体 CN Regular" panose="020B0500000000000000" pitchFamily="34" charset="-122"/>
                    <a:ea typeface="思源黑体 CN Regular" panose="020B0500000000000000" pitchFamily="34" charset="-122"/>
                  </a:rPr>
                  <a:t>M4-M6</a:t>
                </a:r>
              </a:p>
            </p:txBody>
          </p:sp>
          <p:cxnSp>
            <p:nvCxnSpPr>
              <p:cNvPr id="4" name="直接连接符 3"/>
              <p:cNvCxnSpPr/>
              <p:nvPr/>
            </p:nvCxnSpPr>
            <p:spPr>
              <a:xfrm>
                <a:off x="670535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/>
              <p:cNvCxnSpPr/>
              <p:nvPr/>
            </p:nvCxnSpPr>
            <p:spPr>
              <a:xfrm>
                <a:off x="497787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/>
              <p:cNvCxnSpPr/>
              <p:nvPr/>
            </p:nvCxnSpPr>
            <p:spPr>
              <a:xfrm>
                <a:off x="843283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/>
              <p:cNvCxnSpPr/>
              <p:nvPr/>
            </p:nvCxnSpPr>
            <p:spPr>
              <a:xfrm>
                <a:off x="10160319" y="365275"/>
                <a:ext cx="0" cy="301705"/>
              </a:xfrm>
              <a:prstGeom prst="line">
                <a:avLst/>
              </a:prstGeom>
              <a:ln w="31750"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等腰三角形 41"/>
            <p:cNvSpPr/>
            <p:nvPr/>
          </p:nvSpPr>
          <p:spPr>
            <a:xfrm>
              <a:off x="10764882" y="561975"/>
              <a:ext cx="818588" cy="149226"/>
            </a:xfrm>
            <a:prstGeom prst="triangle">
              <a:avLst>
                <a:gd name="adj" fmla="val 50385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31" name="文本框 82"/>
          <p:cNvSpPr txBox="1"/>
          <p:nvPr/>
        </p:nvSpPr>
        <p:spPr>
          <a:xfrm>
            <a:off x="3185160" y="2997200"/>
            <a:ext cx="7146925" cy="69977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zh-CN" altLang="en-US" sz="4400" b="1" dirty="0">
                <a:solidFill>
                  <a:srgbClr val="4472C4"/>
                </a:solidFill>
                <a:cs typeface="+mn-ea"/>
                <a:sym typeface="+mn-lt"/>
              </a:rPr>
              <a:t>工程应用与岗位认识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Object"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DA2MGQ2YzdmNTU2MGM0ODg2OGJiZjFkMDk1MzQxMGEifQ=="/>
  <p:tag name="OPCH-14AA45D5D75AB054842617C8379A485EB3A8C87E45D3617391723A6A767155E3" val="[{&quot;GradientColorId&quot;:&quot;&quot;,&quot;IsFree&quot;:true,&quot;IsGradient&quot;:false,&quot;ImagePath&quot;:&quot;&quot;,&quot;GradientColor&quot;:null,&quot;SimpleColor&quot;:&quot;#00B050&quot;},{&quot;GradientColorId&quot;:&quot;&quot;,&quot;IsFree&quot;:true,&quot;IsGradient&quot;:false,&quot;ImagePath&quot;:&quot;&quot;,&quot;GradientColor&quot;:null,&quot;SimpleColor&quot;:&quot;#000000&quot;}]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400679;#400677;#400677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sii2hdl">
      <a:majorFont>
        <a:latin typeface="Arial"/>
        <a:ea typeface="思源黑体 CN Regular"/>
        <a:cs typeface=""/>
      </a:majorFont>
      <a:minorFont>
        <a:latin typeface="Arial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2299</Words>
  <Application>Microsoft Office PowerPoint</Application>
  <PresentationFormat>宽屏</PresentationFormat>
  <Paragraphs>180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quote-cjk-patch</vt:lpstr>
      <vt:lpstr>等线</vt:lpstr>
      <vt:lpstr>思源黑体 CN Regular</vt:lpstr>
      <vt:lpstr>Arial</vt:lpstr>
      <vt:lpstr>Courier New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木卫林学术</dc:title>
  <dc:subject>木卫林</dc:subject>
  <dc:creator>滕 婷</dc:creator>
  <dc:description>木卫林学术</dc:description>
  <cp:lastModifiedBy>chajden_111@163.com</cp:lastModifiedBy>
  <cp:revision>32</cp:revision>
  <dcterms:created xsi:type="dcterms:W3CDTF">2022-05-21T02:01:00Z</dcterms:created>
  <dcterms:modified xsi:type="dcterms:W3CDTF">2026-08-28T03:35:39Z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25B0DE005A4046BCBA33519E0C7FCE72_13</vt:lpwstr>
  </property>
  <property fmtid="{D5CDD505-2E9C-101B-9397-08002B2CF9AE}" pid="3" name="KSOProductBuildVer">
    <vt:lpwstr>2052-12.1.0.28043</vt:lpwstr>
  </property>
</Properties>
</file>